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trike="noStrike" u="none">
                <a:solidFill>
                  <a:schemeClr val="dk1"/>
                </a:solidFill>
                <a:effectLst/>
                <a:uFillTx/>
                <a:latin typeface="Aptos"/>
              </a:rPr>
              <a:t>Cliquez pour déplacer la diapo</a:t>
            </a:r>
            <a:endParaRPr b="0" lang="fr-FR" sz="1800" strike="noStrike" u="none">
              <a:solidFill>
                <a:schemeClr val="dk1"/>
              </a:solidFill>
              <a:effectLst/>
              <a:uFillTx/>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Cliquez pour modifier le format des notes</a:t>
            </a:r>
            <a:endParaRPr b="0" lang="fr-FR"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F126B4B6-3DDC-497C-B966-9C6E106327AD}" type="slidenum">
              <a:rPr b="0" lang="fr-FR" sz="1400" strike="noStrike" u="none">
                <a:solidFill>
                  <a:srgbClr val="000000"/>
                </a:solidFill>
                <a:effectLst/>
                <a:uFillTx/>
                <a:latin typeface="Times New Roman"/>
              </a:rPr>
              <a:t>1</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Ouverture : Bonjour, je vous présente le pipeline Data Engineering du Comptoir des Coteaux. Le problème de départ est simple : Octave faisait manuellement un rapprochement ERP/Web, avec un risque de doublons et une échéance mensuelle le 15 à 9h. J'ai industrialisé ce processus avec Kestra, DuckDB, Python et Docker, pour produire automatiquement le rapport CA et les deux fichiers Premium et Ordinaire.</a:t>
            </a:r>
            <a:endParaRPr b="0" lang="fr-FR" sz="2000" strike="noStrike" u="none">
              <a:solidFill>
                <a:srgbClr val="000000"/>
              </a:solidFill>
              <a:effectLst/>
              <a:uFillTx/>
              <a:latin typeface="Arial"/>
            </a:endParaRPr>
          </a:p>
        </p:txBody>
      </p:sp>
      <p:sp>
        <p:nvSpPr>
          <p:cNvPr id="36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F8E7E43-05E4-4517-89F9-5114BE902E33}"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Cette slide pose le besoin métier. Le Comptoir a trois sources : l'ERP pour les informations produits, la table de liaison pour relier les identifiants, et le Web pour les ventes. Les livrables métiers sont le rapport Excel du chiffre d'affaires, la liste des vins premium et la liste des vins ordinaires. Les contraintes importantes sont la planification mensuelle, les tests à chaque étape et la capacité à expliquer ce qui se passe en cas d'erreur ou d'ajout d'une nouvelle source.</a:t>
            </a:r>
            <a:endParaRPr b="0" lang="fr-FR" sz="2000" strike="noStrike" u="none">
              <a:solidFill>
                <a:srgbClr val="000000"/>
              </a:solidFill>
              <a:effectLst/>
              <a:uFillTx/>
              <a:latin typeface="Arial"/>
            </a:endParaRPr>
          </a:p>
        </p:txBody>
      </p:sp>
      <p:sp>
        <p:nvSpPr>
          <p:cNvPr id="37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44415E8-612F-462E-872C-FE6B09265278}"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Ici, je justifie l'architecture. Kestra n'est pas utilisé pour faire les calculs : il orchestre les tâches, les dépendances, les retries, les branches et le cron. Les traitements restent dans des scripts SQL DuckDB et Python. DuckDB est adapté parce qu'on traite des fichiers analytiques localement, en SQL, sans serveur de base de données permanent. Docker garantit un environnement reproductible.</a:t>
            </a:r>
            <a:endParaRPr b="0" lang="fr-FR" sz="2000" strike="noStrike" u="none">
              <a:solidFill>
                <a:srgbClr val="000000"/>
              </a:solidFill>
              <a:effectLst/>
              <a:uFillTx/>
              <a:latin typeface="Arial"/>
            </a:endParaRPr>
          </a:p>
        </p:txBody>
      </p:sp>
      <p:sp>
        <p:nvSpPr>
          <p:cNvPr id="37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816D51B-2BFE-46F5-8454-1508A8FC198F}"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 workflow principal est structuré de manière simple : une tâche métier, puis une tâche de contrôle. On nettoie, on teste, on dédoublonne, on teste, on joint, on teste, puis on calcule le CA et le z-score avec leurs contrôles. Ensuite Kestra génère le rapport Excel et sépare les deux extractions Premium et Ordinaire en branches parallèles. Si un test détecte une incohérence, la tâche passe en Failed et le pipeline s'arrête.</a:t>
            </a:r>
            <a:endParaRPr b="0" lang="fr-FR" sz="2000" strike="noStrike" u="none">
              <a:solidFill>
                <a:srgbClr val="000000"/>
              </a:solidFill>
              <a:effectLst/>
              <a:uFillTx/>
              <a:latin typeface="Arial"/>
            </a:endParaRPr>
          </a:p>
        </p:txBody>
      </p:sp>
      <p:sp>
        <p:nvSpPr>
          <p:cNvPr id="37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174E59F-930B-46A3-9318-62ED9441178A}"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040" cy="308592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Les résultats de référence d'Octave sont tous retrouvés. Les valeurs clés sont 825 lignes ERP, 825 lignes Liaison, 1428 lignes Web après nettoyage, 714 lignes après dédoublonnage Web et après jointure, un chiffre d'affaires total de 70 568,60 euros, 30 vins premium et 684 ordinaires. Les contrôles sont réellement bloquants : si une valeur n'est pas conforme, le script lève une erreur et Kestra marque la tâche en échec.</a:t>
            </a:r>
            <a:endParaRPr b="0" lang="fr-FR" sz="2000" strike="noStrike" u="none">
              <a:solidFill>
                <a:srgbClr val="000000"/>
              </a:solidFill>
              <a:effectLst/>
              <a:uFillTx/>
              <a:latin typeface="Arial"/>
            </a:endParaRPr>
          </a:p>
        </p:txBody>
      </p:sp>
      <p:sp>
        <p:nvSpPr>
          <p:cNvPr id="380"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22703EA-EE7F-405A-9648-4E99459898D8}"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040" cy="308592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Cette slide répond à la recommandation de séparer l'extraction Premium et Ordinaire avec des branches Kestra. Après la classification z-score, Kestra lance un Parallel avec deux WorkingDirectory indépendants : une branche Premium et une branche Ordinaire. Chaque branche exporte son CSV et exécute son propre test. Les valeurs attendues sont 30 lignes pour premium.csv et 684 lignes pour ordinaires.csv.</a:t>
            </a:r>
            <a:endParaRPr b="0" lang="fr-FR" sz="2000" strike="noStrike" u="none">
              <a:solidFill>
                <a:srgbClr val="000000"/>
              </a:solidFill>
              <a:effectLst/>
              <a:uFillTx/>
              <a:latin typeface="Arial"/>
            </a:endParaRPr>
          </a:p>
        </p:txBody>
      </p:sp>
      <p:sp>
        <p:nvSpPr>
          <p:cNvPr id="383"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7B269C6-BD90-4A67-8695-828CD8BD02BE}"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J'ai ajouté des retries sur les tâches sensibles aux erreurs temporaires : clone GitHub, traitements SQL, scripts Python et exports. La configuration utilise 3 tentatives avec 5 secondes d'intervalle. En revanche, les tâches de test n'ont pas de retry, car si le chiffre d'affaires ou le z-score est faux, relancer le même test ne corrigera pas les données. Un flow test_retry simule une panne avec exit 1 et montre que Kestra réessaie puis passe en Failed.</a:t>
            </a:r>
            <a:endParaRPr b="0" lang="fr-FR" sz="2000" strike="noStrike" u="none">
              <a:solidFill>
                <a:srgbClr val="000000"/>
              </a:solidFill>
              <a:effectLst/>
              <a:uFillTx/>
              <a:latin typeface="Arial"/>
            </a:endParaRPr>
          </a:p>
        </p:txBody>
      </p:sp>
      <p:sp>
        <p:nvSpPr>
          <p:cNvPr id="386"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4E1D4FF-9679-4EDC-BA18-14A9FECB4293}"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6040" cy="3085920"/>
          </a:xfrm>
          <a:prstGeom prst="rect">
            <a:avLst/>
          </a:prstGeom>
          <a:ln w="0">
            <a:noFill/>
          </a:ln>
        </p:spPr>
      </p:sp>
      <p:sp>
        <p:nvSpPr>
          <p:cNvPr id="3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Pour anticiper une quatrième source, j'ai créé un flow dédié : onboard_extra_source. Il prend un fichier uploadé dans Kestra, analyse ses colonnes, ses valeurs manquantes, ses doublons et ses clés candidates. Ensuite il cherche une clé commune parmi product_id, sku ou id_web, joint la source aux ventes fusionnées, vérifie qu'il n'y a pas de doublons, puis relance le calcul du chiffre d'affaires, le z-score et les branches Premium et Ordinaire. La démonstration a été validée avec Fichier_erp.xlsx comme quatrième source fictive.</a:t>
            </a:r>
            <a:endParaRPr b="0" lang="fr-FR" sz="2000" strike="noStrike" u="none">
              <a:solidFill>
                <a:srgbClr val="000000"/>
              </a:solidFill>
              <a:effectLst/>
              <a:uFillTx/>
              <a:latin typeface="Arial"/>
            </a:endParaRPr>
          </a:p>
        </p:txBody>
      </p:sp>
      <p:sp>
        <p:nvSpPr>
          <p:cNvPr id="389"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7FB34B3-BF13-4464-BD3B-69B663143D2B}"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6040" cy="308592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Pour tenir en 3 minutes, je ne dois pas lire le README. Je commence par le contexte, puis je montre le workflow dans Kestra. Ensuite je donne directement les résultats : 714 produits, 70 568,60 euros de CA, 30 premium, 684 ordinaires. Puis j'explique rapidement la robustesse : tests bloquants, retries, cron. Enfin je termine avec la preuve d'évolutivité : l'onboarding d'une quatrième source et les branches Premium/Ordinaire.</a:t>
            </a:r>
            <a:endParaRPr b="0" lang="fr-FR" sz="2000" strike="noStrike" u="none">
              <a:solidFill>
                <a:srgbClr val="000000"/>
              </a:solidFill>
              <a:effectLst/>
              <a:uFillTx/>
              <a:latin typeface="Arial"/>
            </a:endParaRPr>
          </a:p>
        </p:txBody>
      </p:sp>
      <p:sp>
        <p:nvSpPr>
          <p:cNvPr id="392"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A608BB4-1BC6-4CF3-8556-18D84243C632}" type="slidenum">
              <a:rPr b="0" lang="en-US" sz="1200" strike="noStrike" u="none">
                <a:solidFill>
                  <a:schemeClr val="dk1"/>
                </a:solidFill>
                <a:effectLst/>
                <a:uFillTx/>
                <a:latin typeface="+mn-lt"/>
                <a:ea typeface="+mn-ea"/>
              </a:rPr>
              <a:t>10</a:t>
            </a:fld>
            <a:endParaRPr b="0" lang="fr-FR"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685800" y="1143000"/>
            <a:ext cx="5486040" cy="3085920"/>
          </a:xfrm>
          <a:prstGeom prst="rect">
            <a:avLst/>
          </a:prstGeom>
          <a:ln w="0">
            <a:noFill/>
          </a:ln>
        </p:spPr>
      </p:sp>
      <p:sp>
        <p:nvSpPr>
          <p:cNvPr id="3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Conclusion : le résultat est un pipeline mensuel automatisé, contrôlé, robuste et extensible. Je dois insister sur le fait que le dépôt GitHub est le livrable central : il contient les sources, les workflows, les scripts, les outputs, les captures et le README. Si on me demande ce que j'améliorerais ensuite, je réponds : notifications en cas d'échec, historisation des résultats mensuels et supervision plus poussée.</a:t>
            </a:r>
            <a:endParaRPr b="0" lang="fr-FR" sz="2000" strike="noStrike" u="none">
              <a:solidFill>
                <a:srgbClr val="000000"/>
              </a:solidFill>
              <a:effectLst/>
              <a:uFillTx/>
              <a:latin typeface="Arial"/>
            </a:endParaRPr>
          </a:p>
        </p:txBody>
      </p:sp>
      <p:sp>
        <p:nvSpPr>
          <p:cNvPr id="395"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A20C886-4DD2-4954-95EA-2218DBA8313C}" type="slidenum">
              <a:rPr b="0" lang="en-US" sz="1200" strike="noStrike" u="none">
                <a:solidFill>
                  <a:schemeClr val="dk1"/>
                </a:solidFill>
                <a:effectLst/>
                <a:uFillTx/>
                <a:latin typeface="+mn-lt"/>
                <a:ea typeface="+mn-ea"/>
              </a:rPr>
              <a:t>&lt;numéro&gt;</a:t>
            </a:fld>
            <a:endParaRPr b="0" lang="fr-FR"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fr-FR" sz="1800" strike="noStrike" u="none">
                <a:solidFill>
                  <a:schemeClr val="dk1"/>
                </a:solidFill>
                <a:effectLst/>
                <a:uFillTx/>
                <a:latin typeface="Aptos"/>
              </a:rPr>
              <a:t>Cliquez pour éditer le format du texte-titre</a:t>
            </a:r>
            <a:endParaRPr b="0" lang="fr-FR" sz="1800" strike="noStrike" u="none">
              <a:solidFill>
                <a:schemeClr val="dk1"/>
              </a:solidFill>
              <a:effectLst/>
              <a:uFillTx/>
              <a:latin typeface="Aptos"/>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trike="noStrike" u="none">
                <a:solidFill>
                  <a:schemeClr val="dk1"/>
                </a:solidFill>
                <a:effectLst/>
                <a:uFillTx/>
                <a:latin typeface="Aptos"/>
              </a:rPr>
              <a:t>Cliquez pour éditer le format du plan de texte</a:t>
            </a:r>
            <a:endParaRPr b="0" lang="fr-FR" sz="3200" strike="noStrike" u="none">
              <a:solidFill>
                <a:schemeClr val="dk1"/>
              </a:solidFill>
              <a:effectLst/>
              <a:uFillTx/>
              <a:latin typeface="Aptos"/>
            </a:endParaRPr>
          </a:p>
          <a:p>
            <a:pPr lvl="1" marL="864000" indent="-324000">
              <a:spcBef>
                <a:spcPts val="1134"/>
              </a:spcBef>
              <a:buClr>
                <a:srgbClr val="000000"/>
              </a:buClr>
              <a:buSzPct val="75000"/>
              <a:buFont typeface="Symbol" charset="2"/>
              <a:buChar char=""/>
            </a:pPr>
            <a:r>
              <a:rPr b="0" lang="fr-FR" sz="2400" strike="noStrike" u="none">
                <a:solidFill>
                  <a:schemeClr val="dk1"/>
                </a:solidFill>
                <a:effectLst/>
                <a:uFillTx/>
                <a:latin typeface="Aptos"/>
              </a:rPr>
              <a:t>Second niveau de plan</a:t>
            </a:r>
            <a:endParaRPr b="0" lang="fr-FR" sz="2400" strike="noStrike" u="none">
              <a:solidFill>
                <a:schemeClr val="dk1"/>
              </a:solidFill>
              <a:effectLst/>
              <a:uFillTx/>
              <a:latin typeface="Aptos"/>
            </a:endParaRPr>
          </a:p>
          <a:p>
            <a:pPr lvl="2" marL="1296000" indent="-288000">
              <a:spcBef>
                <a:spcPts val="850"/>
              </a:spcBef>
              <a:buClr>
                <a:srgbClr val="000000"/>
              </a:buClr>
              <a:buSzPct val="45000"/>
              <a:buFont typeface="Wingdings" charset="2"/>
              <a:buChar char=""/>
            </a:pPr>
            <a:r>
              <a:rPr b="0" lang="fr-FR" sz="2000" strike="noStrike" u="none">
                <a:solidFill>
                  <a:schemeClr val="dk1"/>
                </a:solidFill>
                <a:effectLst/>
                <a:uFillTx/>
                <a:latin typeface="Aptos"/>
              </a:rPr>
              <a:t>Troisième niveau de plan</a:t>
            </a:r>
            <a:endParaRPr b="0" lang="fr-FR" sz="2000" strike="noStrike" u="none">
              <a:solidFill>
                <a:schemeClr val="dk1"/>
              </a:solidFill>
              <a:effectLst/>
              <a:uFillTx/>
              <a:latin typeface="Aptos"/>
            </a:endParaRPr>
          </a:p>
          <a:p>
            <a:pPr lvl="3" marL="1728000" indent="-216000">
              <a:spcBef>
                <a:spcPts val="567"/>
              </a:spcBef>
              <a:buClr>
                <a:srgbClr val="000000"/>
              </a:buClr>
              <a:buSzPct val="75000"/>
              <a:buFont typeface="Symbol" charset="2"/>
              <a:buChar char=""/>
            </a:pPr>
            <a:r>
              <a:rPr b="0" lang="fr-FR" sz="2000" strike="noStrike" u="none">
                <a:solidFill>
                  <a:schemeClr val="dk1"/>
                </a:solidFill>
                <a:effectLst/>
                <a:uFillTx/>
                <a:latin typeface="Aptos"/>
              </a:rPr>
              <a:t>Quatrième niveau de plan</a:t>
            </a:r>
            <a:endParaRPr b="0" lang="fr-FR" sz="2000" strike="noStrike" u="none">
              <a:solidFill>
                <a:schemeClr val="dk1"/>
              </a:solidFill>
              <a:effectLst/>
              <a:uFillTx/>
              <a:latin typeface="Aptos"/>
            </a:endParaRPr>
          </a:p>
          <a:p>
            <a:pPr lvl="4" marL="2160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Cinquième niveau de plan</a:t>
            </a:r>
            <a:endParaRPr b="0" lang="fr-FR" sz="2000" strike="noStrike" u="none">
              <a:solidFill>
                <a:schemeClr val="dk1"/>
              </a:solidFill>
              <a:effectLst/>
              <a:uFillTx/>
              <a:latin typeface="Aptos"/>
            </a:endParaRPr>
          </a:p>
          <a:p>
            <a:pPr lvl="5" marL="2592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Sixième niveau de plan</a:t>
            </a:r>
            <a:endParaRPr b="0" lang="fr-FR" sz="2000" strike="noStrike" u="none">
              <a:solidFill>
                <a:schemeClr val="dk1"/>
              </a:solidFill>
              <a:effectLst/>
              <a:uFillTx/>
              <a:latin typeface="Aptos"/>
            </a:endParaRPr>
          </a:p>
          <a:p>
            <a:pPr lvl="6" marL="3024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Septième niveau de plan</a:t>
            </a:r>
            <a:endParaRPr b="0" lang="fr-FR"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a"/>
        </a:solidFill>
      </p:bgPr>
    </p:bg>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f6f8fa"/>
          </a:solidFill>
          <a:ln w="12700">
            <a:solidFill>
              <a:srgbClr val="f6f8fa"/>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9" name="Text 1"/>
          <p:cNvSpPr/>
          <p:nvPr/>
        </p:nvSpPr>
        <p:spPr>
          <a:xfrm>
            <a:off x="685800" y="731520"/>
            <a:ext cx="7314840" cy="1142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1" lang="en-US" sz="3600" strike="noStrike" u="none">
                <a:solidFill>
                  <a:srgbClr val="12355b"/>
                </a:solidFill>
                <a:effectLst/>
                <a:uFillTx/>
                <a:latin typeface="Aptos Display"/>
                <a:ea typeface="Aptos Display"/>
              </a:rPr>
              <a:t>Octave part en vendanges,</a:t>
            </a:r>
            <a:endParaRPr b="0" lang="fr-FR" sz="3600" strike="noStrike" u="none">
              <a:solidFill>
                <a:srgbClr val="000000"/>
              </a:solidFill>
              <a:effectLst/>
              <a:uFillTx/>
              <a:latin typeface="Arial"/>
            </a:endParaRPr>
          </a:p>
          <a:p>
            <a:pPr defTabSz="914400">
              <a:lnSpc>
                <a:spcPct val="100000"/>
              </a:lnSpc>
              <a:tabLst>
                <a:tab algn="l" pos="0"/>
              </a:tabLst>
            </a:pPr>
            <a:r>
              <a:rPr b="1" lang="en-US" sz="3600" strike="noStrike" u="none">
                <a:solidFill>
                  <a:srgbClr val="12355b"/>
                </a:solidFill>
                <a:effectLst/>
                <a:uFillTx/>
                <a:latin typeface="Aptos Display"/>
                <a:ea typeface="Aptos Display"/>
              </a:rPr>
              <a:t>le pipeline prend le relais</a:t>
            </a:r>
            <a:endParaRPr b="0" lang="fr-FR" sz="3600" strike="noStrike" u="none">
              <a:solidFill>
                <a:srgbClr val="000000"/>
              </a:solidFill>
              <a:effectLst/>
              <a:uFillTx/>
              <a:latin typeface="Arial"/>
            </a:endParaRPr>
          </a:p>
        </p:txBody>
      </p:sp>
      <p:sp>
        <p:nvSpPr>
          <p:cNvPr id="10" name="Text 2"/>
          <p:cNvSpPr/>
          <p:nvPr/>
        </p:nvSpPr>
        <p:spPr>
          <a:xfrm>
            <a:off x="713160" y="1993320"/>
            <a:ext cx="7131960" cy="31968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0" lang="en-US" sz="1500" strike="noStrike" u="none">
                <a:solidFill>
                  <a:srgbClr val="1f2937"/>
                </a:solidFill>
                <a:effectLst/>
                <a:uFillTx/>
                <a:latin typeface="Aptos"/>
              </a:rPr>
              <a:t>Concevoir, orchestrer et tester la chaîne de traitement des ventes du Comptoir des Coteaux</a:t>
            </a:r>
            <a:endParaRPr b="0" lang="fr-FR" sz="1500" strike="noStrike" u="none">
              <a:solidFill>
                <a:srgbClr val="000000"/>
              </a:solidFill>
              <a:effectLst/>
              <a:uFillTx/>
              <a:latin typeface="Arial"/>
            </a:endParaRPr>
          </a:p>
        </p:txBody>
      </p:sp>
      <p:sp>
        <p:nvSpPr>
          <p:cNvPr id="11" name="Shape 3"/>
          <p:cNvSpPr/>
          <p:nvPr/>
        </p:nvSpPr>
        <p:spPr>
          <a:xfrm>
            <a:off x="868680" y="3931920"/>
            <a:ext cx="1234080" cy="776880"/>
          </a:xfrm>
          <a:prstGeom prst="roundRect">
            <a:avLst>
              <a:gd name="adj" fmla="val 7059"/>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 name="Text 4"/>
          <p:cNvSpPr/>
          <p:nvPr/>
        </p:nvSpPr>
        <p:spPr>
          <a:xfrm>
            <a:off x="94176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1f2937"/>
                </a:solidFill>
                <a:effectLst/>
                <a:uFillTx/>
                <a:latin typeface="Aptos"/>
              </a:rPr>
              <a:t>ERP</a:t>
            </a:r>
            <a:endParaRPr b="0" lang="fr-FR" sz="1400" strike="noStrike" u="none">
              <a:solidFill>
                <a:srgbClr val="000000"/>
              </a:solidFill>
              <a:effectLst/>
              <a:uFillTx/>
              <a:latin typeface="Arial"/>
            </a:endParaRPr>
          </a:p>
        </p:txBody>
      </p:sp>
      <p:sp>
        <p:nvSpPr>
          <p:cNvPr id="13" name="Shape 5"/>
          <p:cNvSpPr/>
          <p:nvPr/>
        </p:nvSpPr>
        <p:spPr>
          <a:xfrm>
            <a:off x="2148840" y="4315680"/>
            <a:ext cx="228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4" name="Shape 6"/>
          <p:cNvSpPr/>
          <p:nvPr/>
        </p:nvSpPr>
        <p:spPr>
          <a:xfrm>
            <a:off x="2423160" y="3931920"/>
            <a:ext cx="1234080" cy="776880"/>
          </a:xfrm>
          <a:prstGeom prst="roundRect">
            <a:avLst>
              <a:gd name="adj" fmla="val 7059"/>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5" name="Text 7"/>
          <p:cNvSpPr/>
          <p:nvPr/>
        </p:nvSpPr>
        <p:spPr>
          <a:xfrm>
            <a:off x="249624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1f2937"/>
                </a:solidFill>
                <a:effectLst/>
                <a:uFillTx/>
                <a:latin typeface="Aptos"/>
              </a:rPr>
              <a:t>Liaison</a:t>
            </a:r>
            <a:endParaRPr b="0" lang="fr-FR" sz="1400" strike="noStrike" u="none">
              <a:solidFill>
                <a:srgbClr val="000000"/>
              </a:solidFill>
              <a:effectLst/>
              <a:uFillTx/>
              <a:latin typeface="Arial"/>
            </a:endParaRPr>
          </a:p>
        </p:txBody>
      </p:sp>
      <p:sp>
        <p:nvSpPr>
          <p:cNvPr id="16" name="Shape 8"/>
          <p:cNvSpPr/>
          <p:nvPr/>
        </p:nvSpPr>
        <p:spPr>
          <a:xfrm>
            <a:off x="3703320" y="4315680"/>
            <a:ext cx="228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7" name="Shape 9"/>
          <p:cNvSpPr/>
          <p:nvPr/>
        </p:nvSpPr>
        <p:spPr>
          <a:xfrm>
            <a:off x="3977640" y="3931920"/>
            <a:ext cx="1234080" cy="776880"/>
          </a:xfrm>
          <a:prstGeom prst="roundRect">
            <a:avLst>
              <a:gd name="adj" fmla="val 7059"/>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 name="Text 10"/>
          <p:cNvSpPr/>
          <p:nvPr/>
        </p:nvSpPr>
        <p:spPr>
          <a:xfrm>
            <a:off x="405072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1f2937"/>
                </a:solidFill>
                <a:effectLst/>
                <a:uFillTx/>
                <a:latin typeface="Aptos"/>
              </a:rPr>
              <a:t>Web</a:t>
            </a:r>
            <a:endParaRPr b="0" lang="fr-FR" sz="1400" strike="noStrike" u="none">
              <a:solidFill>
                <a:srgbClr val="000000"/>
              </a:solidFill>
              <a:effectLst/>
              <a:uFillTx/>
              <a:latin typeface="Arial"/>
            </a:endParaRPr>
          </a:p>
        </p:txBody>
      </p:sp>
      <p:sp>
        <p:nvSpPr>
          <p:cNvPr id="19" name="Shape 11"/>
          <p:cNvSpPr/>
          <p:nvPr/>
        </p:nvSpPr>
        <p:spPr>
          <a:xfrm>
            <a:off x="5257800" y="4315680"/>
            <a:ext cx="228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0" name="Shape 12"/>
          <p:cNvSpPr/>
          <p:nvPr/>
        </p:nvSpPr>
        <p:spPr>
          <a:xfrm>
            <a:off x="5532120" y="3931920"/>
            <a:ext cx="1234080" cy="776880"/>
          </a:xfrm>
          <a:prstGeom prst="roundRect">
            <a:avLst>
              <a:gd name="adj" fmla="val 7059"/>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1" name="Text 13"/>
          <p:cNvSpPr/>
          <p:nvPr/>
        </p:nvSpPr>
        <p:spPr>
          <a:xfrm>
            <a:off x="560520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1f2937"/>
                </a:solidFill>
                <a:effectLst/>
                <a:uFillTx/>
                <a:latin typeface="Aptos"/>
              </a:rPr>
              <a:t>DuckDB</a:t>
            </a:r>
            <a:endParaRPr b="0" lang="fr-FR" sz="1400" strike="noStrike" u="none">
              <a:solidFill>
                <a:srgbClr val="000000"/>
              </a:solidFill>
              <a:effectLst/>
              <a:uFillTx/>
              <a:latin typeface="Arial"/>
            </a:endParaRPr>
          </a:p>
        </p:txBody>
      </p:sp>
      <p:sp>
        <p:nvSpPr>
          <p:cNvPr id="22" name="Shape 14"/>
          <p:cNvSpPr/>
          <p:nvPr/>
        </p:nvSpPr>
        <p:spPr>
          <a:xfrm>
            <a:off x="6812280" y="4315680"/>
            <a:ext cx="228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3" name="Shape 15"/>
          <p:cNvSpPr/>
          <p:nvPr/>
        </p:nvSpPr>
        <p:spPr>
          <a:xfrm>
            <a:off x="7086600" y="3931920"/>
            <a:ext cx="1234080" cy="776880"/>
          </a:xfrm>
          <a:prstGeom prst="roundRect">
            <a:avLst>
              <a:gd name="adj" fmla="val 7059"/>
            </a:avLst>
          </a:prstGeom>
          <a:solidFill>
            <a:srgbClr val="ede9fe"/>
          </a:solidFill>
          <a:ln w="12700">
            <a:solidFill>
              <a:srgbClr val="ede9fe">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4" name="Text 16"/>
          <p:cNvSpPr/>
          <p:nvPr/>
        </p:nvSpPr>
        <p:spPr>
          <a:xfrm>
            <a:off x="715968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6941c6"/>
                </a:solidFill>
                <a:effectLst/>
                <a:uFillTx/>
                <a:latin typeface="Aptos"/>
              </a:rPr>
              <a:t>Kestra</a:t>
            </a:r>
            <a:endParaRPr b="0" lang="fr-FR" sz="1400" strike="noStrike" u="none">
              <a:solidFill>
                <a:srgbClr val="000000"/>
              </a:solidFill>
              <a:effectLst/>
              <a:uFillTx/>
              <a:latin typeface="Arial"/>
            </a:endParaRPr>
          </a:p>
        </p:txBody>
      </p:sp>
      <p:sp>
        <p:nvSpPr>
          <p:cNvPr id="25" name="Shape 17"/>
          <p:cNvSpPr/>
          <p:nvPr/>
        </p:nvSpPr>
        <p:spPr>
          <a:xfrm>
            <a:off x="8366760" y="4315680"/>
            <a:ext cx="228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6" name="Shape 18"/>
          <p:cNvSpPr/>
          <p:nvPr/>
        </p:nvSpPr>
        <p:spPr>
          <a:xfrm>
            <a:off x="8641080" y="3931920"/>
            <a:ext cx="1234080" cy="776880"/>
          </a:xfrm>
          <a:prstGeom prst="roundRect">
            <a:avLst>
              <a:gd name="adj" fmla="val 7059"/>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7" name="Text 19"/>
          <p:cNvSpPr/>
          <p:nvPr/>
        </p:nvSpPr>
        <p:spPr>
          <a:xfrm>
            <a:off x="8714160" y="4005000"/>
            <a:ext cx="1087920" cy="630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1f2937"/>
                </a:solidFill>
                <a:effectLst/>
                <a:uFillTx/>
                <a:latin typeface="Aptos"/>
              </a:rPr>
              <a:t>Exports</a:t>
            </a:r>
            <a:endParaRPr b="0" lang="fr-FR" sz="1400" strike="noStrike" u="none">
              <a:solidFill>
                <a:srgbClr val="000000"/>
              </a:solidFill>
              <a:effectLst/>
              <a:uFillTx/>
              <a:latin typeface="Arial"/>
            </a:endParaRPr>
          </a:p>
        </p:txBody>
      </p:sp>
      <p:sp>
        <p:nvSpPr>
          <p:cNvPr id="28" name="Text 20"/>
          <p:cNvSpPr/>
          <p:nvPr/>
        </p:nvSpPr>
        <p:spPr>
          <a:xfrm>
            <a:off x="9646920" y="1051560"/>
            <a:ext cx="1371240" cy="38376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700" strike="noStrike" u="none">
                <a:solidFill>
                  <a:srgbClr val="1f6feb"/>
                </a:solidFill>
                <a:effectLst/>
                <a:uFillTx/>
                <a:latin typeface="Aptos"/>
              </a:rPr>
              <a:t>714</a:t>
            </a:r>
            <a:endParaRPr b="0" lang="fr-FR" sz="2700" strike="noStrike" u="none">
              <a:solidFill>
                <a:srgbClr val="000000"/>
              </a:solidFill>
              <a:effectLst/>
              <a:uFillTx/>
              <a:latin typeface="Arial"/>
            </a:endParaRPr>
          </a:p>
        </p:txBody>
      </p:sp>
      <p:sp>
        <p:nvSpPr>
          <p:cNvPr id="29" name="Text 21"/>
          <p:cNvSpPr/>
          <p:nvPr/>
        </p:nvSpPr>
        <p:spPr>
          <a:xfrm>
            <a:off x="9537120" y="1490400"/>
            <a:ext cx="159984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667085"/>
                </a:solidFill>
                <a:effectLst/>
                <a:uFillTx/>
                <a:latin typeface="Aptos"/>
              </a:rPr>
              <a:t>produits fusionnés</a:t>
            </a:r>
            <a:endParaRPr b="0" lang="fr-FR" sz="980" strike="noStrike" u="none">
              <a:solidFill>
                <a:srgbClr val="000000"/>
              </a:solidFill>
              <a:effectLst/>
              <a:uFillTx/>
              <a:latin typeface="Arial"/>
            </a:endParaRPr>
          </a:p>
        </p:txBody>
      </p:sp>
      <p:sp>
        <p:nvSpPr>
          <p:cNvPr id="30" name="Text 22"/>
          <p:cNvSpPr/>
          <p:nvPr/>
        </p:nvSpPr>
        <p:spPr>
          <a:xfrm>
            <a:off x="9646920" y="2148840"/>
            <a:ext cx="1371240" cy="38376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700" strike="noStrike" u="none">
                <a:solidFill>
                  <a:srgbClr val="6941c6"/>
                </a:solidFill>
                <a:effectLst/>
                <a:uFillTx/>
                <a:latin typeface="Aptos"/>
              </a:rPr>
              <a:t>30</a:t>
            </a:r>
            <a:endParaRPr b="0" lang="fr-FR" sz="2700" strike="noStrike" u="none">
              <a:solidFill>
                <a:srgbClr val="000000"/>
              </a:solidFill>
              <a:effectLst/>
              <a:uFillTx/>
              <a:latin typeface="Arial"/>
            </a:endParaRPr>
          </a:p>
        </p:txBody>
      </p:sp>
      <p:sp>
        <p:nvSpPr>
          <p:cNvPr id="31" name="Text 23"/>
          <p:cNvSpPr/>
          <p:nvPr/>
        </p:nvSpPr>
        <p:spPr>
          <a:xfrm>
            <a:off x="9537120" y="2587680"/>
            <a:ext cx="159984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667085"/>
                </a:solidFill>
                <a:effectLst/>
                <a:uFillTx/>
                <a:latin typeface="Aptos"/>
              </a:rPr>
              <a:t>vins premium</a:t>
            </a:r>
            <a:endParaRPr b="0" lang="fr-FR" sz="980" strike="noStrike" u="none">
              <a:solidFill>
                <a:srgbClr val="000000"/>
              </a:solidFill>
              <a:effectLst/>
              <a:uFillTx/>
              <a:latin typeface="Arial"/>
            </a:endParaRPr>
          </a:p>
        </p:txBody>
      </p:sp>
      <p:sp>
        <p:nvSpPr>
          <p:cNvPr id="32" name="Text 24"/>
          <p:cNvSpPr/>
          <p:nvPr/>
        </p:nvSpPr>
        <p:spPr>
          <a:xfrm>
            <a:off x="9646920" y="3063240"/>
            <a:ext cx="1371240" cy="383760"/>
          </a:xfrm>
          <a:prstGeom prst="rect">
            <a:avLst/>
          </a:prstGeom>
          <a:noFill/>
          <a:ln w="0">
            <a:noFill/>
          </a:ln>
        </p:spPr>
        <p:style>
          <a:lnRef idx="0"/>
          <a:fillRef idx="0"/>
          <a:effectRef idx="0"/>
          <a:fontRef idx="minor"/>
        </p:style>
        <p:txBody>
          <a:bodyPr lIns="0" rIns="0" tIns="0" bIns="0" anchor="ctr">
            <a:normAutofit fontScale="62500" lnSpcReduction="19999"/>
          </a:bodyPr>
          <a:p>
            <a:pPr algn="ctr" defTabSz="914400">
              <a:lnSpc>
                <a:spcPct val="100000"/>
              </a:lnSpc>
              <a:tabLst>
                <a:tab algn="l" pos="0"/>
              </a:tabLst>
            </a:pPr>
            <a:r>
              <a:rPr b="1" lang="en-US" sz="2700" strike="noStrike" u="none">
                <a:solidFill>
                  <a:srgbClr val="2e7d32"/>
                </a:solidFill>
                <a:effectLst/>
                <a:uFillTx/>
                <a:latin typeface="Aptos"/>
              </a:rPr>
              <a:t>70 568,60 €</a:t>
            </a:r>
            <a:endParaRPr b="0" lang="fr-FR" sz="2700" strike="noStrike" u="none">
              <a:solidFill>
                <a:srgbClr val="000000"/>
              </a:solidFill>
              <a:effectLst/>
              <a:uFillTx/>
              <a:latin typeface="Arial"/>
            </a:endParaRPr>
          </a:p>
        </p:txBody>
      </p:sp>
      <p:sp>
        <p:nvSpPr>
          <p:cNvPr id="33" name="Text 25"/>
          <p:cNvSpPr/>
          <p:nvPr/>
        </p:nvSpPr>
        <p:spPr>
          <a:xfrm>
            <a:off x="9537120" y="3502080"/>
            <a:ext cx="159984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667085"/>
                </a:solidFill>
                <a:effectLst/>
                <a:uFillTx/>
                <a:latin typeface="Aptos"/>
              </a:rPr>
              <a:t>CA total</a:t>
            </a:r>
            <a:endParaRPr b="0" lang="fr-FR" sz="980" strike="noStrike" u="none">
              <a:solidFill>
                <a:srgbClr val="000000"/>
              </a:solidFill>
              <a:effectLst/>
              <a:uFillTx/>
              <a:latin typeface="Arial"/>
            </a:endParaRPr>
          </a:p>
        </p:txBody>
      </p:sp>
      <p:sp>
        <p:nvSpPr>
          <p:cNvPr id="34" name="Text 26"/>
          <p:cNvSpPr/>
          <p:nvPr/>
        </p:nvSpPr>
        <p:spPr>
          <a:xfrm>
            <a:off x="731520" y="5989320"/>
            <a:ext cx="43887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endParaRPr b="0" lang="fr-FR" sz="1200" strike="noStrike" u="none">
              <a:solidFill>
                <a:srgbClr val="000000"/>
              </a:solidFill>
              <a:effectLst/>
              <a:uFillTx/>
              <a:latin typeface="Arial"/>
            </a:endParaRPr>
          </a:p>
          <a:p>
            <a:pPr defTabSz="914400">
              <a:lnSpc>
                <a:spcPct val="100000"/>
              </a:lnSpc>
              <a:tabLst>
                <a:tab algn="l" pos="0"/>
              </a:tabLst>
            </a:pPr>
            <a:endParaRPr b="0" lang="fr-FR"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6"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trike="noStrike" u="none">
                <a:solidFill>
                  <a:srgbClr val="667085"/>
                </a:solidFill>
                <a:effectLst/>
                <a:uFillTx/>
                <a:latin typeface="Aptos"/>
              </a:rPr>
              <a:t>MISSION</a:t>
            </a:r>
            <a:endParaRPr b="0" lang="fr-FR" sz="750" strike="noStrike" u="none">
              <a:solidFill>
                <a:srgbClr val="000000"/>
              </a:solidFill>
              <a:effectLst/>
              <a:uFillTx/>
              <a:latin typeface="Arial"/>
            </a:endParaRPr>
          </a:p>
        </p:txBody>
      </p:sp>
      <p:sp>
        <p:nvSpPr>
          <p:cNvPr id="37"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1" lang="en-US" sz="2900" strike="noStrike" u="none">
                <a:solidFill>
                  <a:srgbClr val="12355b"/>
                </a:solidFill>
                <a:effectLst/>
                <a:uFillTx/>
                <a:latin typeface="Aptos Display"/>
                <a:ea typeface="Aptos Display"/>
              </a:rPr>
              <a:t>Besoin métier et livrables</a:t>
            </a:r>
            <a:endParaRPr b="0" lang="fr-FR" sz="2900" strike="noStrike" u="none">
              <a:solidFill>
                <a:srgbClr val="000000"/>
              </a:solidFill>
              <a:effectLst/>
              <a:uFillTx/>
              <a:latin typeface="Arial"/>
            </a:endParaRPr>
          </a:p>
        </p:txBody>
      </p:sp>
      <p:sp>
        <p:nvSpPr>
          <p:cNvPr id="38"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fontScale="85000" lnSpcReduction="9999"/>
          </a:bodyPr>
          <a:p>
            <a:pPr defTabSz="914400">
              <a:lnSpc>
                <a:spcPct val="100000"/>
              </a:lnSpc>
              <a:tabLst>
                <a:tab algn="l" pos="0"/>
              </a:tabLst>
            </a:pPr>
            <a:r>
              <a:rPr b="0" lang="en-US" sz="1150" strike="noStrike" u="none">
                <a:solidFill>
                  <a:srgbClr val="667085"/>
                </a:solidFill>
                <a:effectLst/>
                <a:uFillTx/>
                <a:latin typeface="Aptos"/>
              </a:rPr>
              <a:t>Automatiser un traitement mensuel jusqu’aux fichiers attendus par Capucine et Théo</a:t>
            </a:r>
            <a:endParaRPr b="0" lang="fr-FR" sz="1150" strike="noStrike" u="none">
              <a:solidFill>
                <a:srgbClr val="000000"/>
              </a:solidFill>
              <a:effectLst/>
              <a:uFillTx/>
              <a:latin typeface="Arial"/>
            </a:endParaRPr>
          </a:p>
        </p:txBody>
      </p:sp>
      <p:sp>
        <p:nvSpPr>
          <p:cNvPr id="39" name="Shape 4"/>
          <p:cNvSpPr/>
          <p:nvPr/>
        </p:nvSpPr>
        <p:spPr>
          <a:xfrm>
            <a:off x="685800" y="1234440"/>
            <a:ext cx="1965600" cy="785880"/>
          </a:xfrm>
          <a:prstGeom prst="roundRect">
            <a:avLst>
              <a:gd name="adj" fmla="val 6977"/>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0" name="Text 5"/>
          <p:cNvSpPr/>
          <p:nvPr/>
        </p:nvSpPr>
        <p:spPr>
          <a:xfrm>
            <a:off x="758880" y="1307520"/>
            <a:ext cx="181944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12355b"/>
                </a:solidFill>
                <a:effectLst/>
                <a:uFillTx/>
                <a:latin typeface="Aptos"/>
              </a:rPr>
              <a:t>ERP</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12355b"/>
                </a:solidFill>
                <a:effectLst/>
                <a:uFillTx/>
                <a:latin typeface="Aptos"/>
              </a:rPr>
              <a:t>prix · stock</a:t>
            </a:r>
            <a:endParaRPr b="0" lang="fr-FR" sz="1300" strike="noStrike" u="none">
              <a:solidFill>
                <a:srgbClr val="000000"/>
              </a:solidFill>
              <a:effectLst/>
              <a:uFillTx/>
              <a:latin typeface="Arial"/>
            </a:endParaRPr>
          </a:p>
        </p:txBody>
      </p:sp>
      <p:sp>
        <p:nvSpPr>
          <p:cNvPr id="41" name="Shape 6"/>
          <p:cNvSpPr/>
          <p:nvPr/>
        </p:nvSpPr>
        <p:spPr>
          <a:xfrm>
            <a:off x="2926080" y="1234440"/>
            <a:ext cx="1965600" cy="785880"/>
          </a:xfrm>
          <a:prstGeom prst="roundRect">
            <a:avLst>
              <a:gd name="adj" fmla="val 6977"/>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2" name="Text 7"/>
          <p:cNvSpPr/>
          <p:nvPr/>
        </p:nvSpPr>
        <p:spPr>
          <a:xfrm>
            <a:off x="2999160" y="1307520"/>
            <a:ext cx="181944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50" strike="noStrike" u="none">
                <a:solidFill>
                  <a:srgbClr val="0e7c7b"/>
                </a:solidFill>
                <a:effectLst/>
                <a:uFillTx/>
                <a:latin typeface="Aptos"/>
              </a:rPr>
              <a:t>Liaison</a:t>
            </a:r>
            <a:endParaRPr b="0" lang="fr-FR" sz="1250" strike="noStrike" u="none">
              <a:solidFill>
                <a:srgbClr val="000000"/>
              </a:solidFill>
              <a:effectLst/>
              <a:uFillTx/>
              <a:latin typeface="Arial"/>
            </a:endParaRPr>
          </a:p>
          <a:p>
            <a:pPr algn="ctr" defTabSz="914400">
              <a:lnSpc>
                <a:spcPct val="100000"/>
              </a:lnSpc>
              <a:tabLst>
                <a:tab algn="l" pos="0"/>
              </a:tabLst>
            </a:pPr>
            <a:r>
              <a:rPr b="1" lang="en-US" sz="1250" strike="noStrike" u="none">
                <a:solidFill>
                  <a:srgbClr val="0e7c7b"/>
                </a:solidFill>
                <a:effectLst/>
                <a:uFillTx/>
                <a:latin typeface="Aptos"/>
              </a:rPr>
              <a:t>product_id → id_web</a:t>
            </a:r>
            <a:endParaRPr b="0" lang="fr-FR" sz="1250" strike="noStrike" u="none">
              <a:solidFill>
                <a:srgbClr val="000000"/>
              </a:solidFill>
              <a:effectLst/>
              <a:uFillTx/>
              <a:latin typeface="Arial"/>
            </a:endParaRPr>
          </a:p>
        </p:txBody>
      </p:sp>
      <p:sp>
        <p:nvSpPr>
          <p:cNvPr id="43" name="Shape 8"/>
          <p:cNvSpPr/>
          <p:nvPr/>
        </p:nvSpPr>
        <p:spPr>
          <a:xfrm>
            <a:off x="5166360" y="1234440"/>
            <a:ext cx="1965600" cy="785880"/>
          </a:xfrm>
          <a:prstGeom prst="roundRect">
            <a:avLst>
              <a:gd name="adj" fmla="val 6977"/>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4" name="Text 9"/>
          <p:cNvSpPr/>
          <p:nvPr/>
        </p:nvSpPr>
        <p:spPr>
          <a:xfrm>
            <a:off x="5239440" y="1307520"/>
            <a:ext cx="181944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12355b"/>
                </a:solidFill>
                <a:effectLst/>
                <a:uFillTx/>
                <a:latin typeface="Aptos"/>
              </a:rPr>
              <a:t>Web</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12355b"/>
                </a:solidFill>
                <a:effectLst/>
                <a:uFillTx/>
                <a:latin typeface="Aptos"/>
              </a:rPr>
              <a:t>ventes · sku</a:t>
            </a:r>
            <a:endParaRPr b="0" lang="fr-FR" sz="1300" strike="noStrike" u="none">
              <a:solidFill>
                <a:srgbClr val="000000"/>
              </a:solidFill>
              <a:effectLst/>
              <a:uFillTx/>
              <a:latin typeface="Arial"/>
            </a:endParaRPr>
          </a:p>
        </p:txBody>
      </p:sp>
      <p:sp>
        <p:nvSpPr>
          <p:cNvPr id="45" name="Shape 10"/>
          <p:cNvSpPr/>
          <p:nvPr/>
        </p:nvSpPr>
        <p:spPr>
          <a:xfrm>
            <a:off x="2669760" y="1627560"/>
            <a:ext cx="21960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6" name="Shape 11"/>
          <p:cNvSpPr/>
          <p:nvPr/>
        </p:nvSpPr>
        <p:spPr>
          <a:xfrm>
            <a:off x="4919400" y="1627560"/>
            <a:ext cx="21924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7" name="Shape 12"/>
          <p:cNvSpPr/>
          <p:nvPr/>
        </p:nvSpPr>
        <p:spPr>
          <a:xfrm>
            <a:off x="7726680" y="896040"/>
            <a:ext cx="1627200" cy="594000"/>
          </a:xfrm>
          <a:prstGeom prst="roundRect">
            <a:avLst>
              <a:gd name="adj" fmla="val 9231"/>
            </a:avLst>
          </a:prstGeom>
          <a:solidFill>
            <a:srgbClr val="f3faf2"/>
          </a:solidFill>
          <a:ln w="12700">
            <a:solidFill>
              <a:srgbClr val="f3faf2">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8" name="Text 13"/>
          <p:cNvSpPr/>
          <p:nvPr/>
        </p:nvSpPr>
        <p:spPr>
          <a:xfrm>
            <a:off x="7799760" y="969120"/>
            <a:ext cx="148104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2e7d32"/>
                </a:solidFill>
                <a:effectLst/>
                <a:uFillTx/>
                <a:latin typeface="Aptos"/>
              </a:rPr>
              <a:t>rapport_CA.xlsx</a:t>
            </a:r>
            <a:endParaRPr b="0" lang="fr-FR" sz="1200" strike="noStrike" u="none">
              <a:solidFill>
                <a:srgbClr val="000000"/>
              </a:solidFill>
              <a:effectLst/>
              <a:uFillTx/>
              <a:latin typeface="Arial"/>
            </a:endParaRPr>
          </a:p>
        </p:txBody>
      </p:sp>
      <p:sp>
        <p:nvSpPr>
          <p:cNvPr id="49" name="Shape 14"/>
          <p:cNvSpPr/>
          <p:nvPr/>
        </p:nvSpPr>
        <p:spPr>
          <a:xfrm>
            <a:off x="7726680" y="1664280"/>
            <a:ext cx="1627200" cy="594000"/>
          </a:xfrm>
          <a:prstGeom prst="roundRect">
            <a:avLst>
              <a:gd name="adj" fmla="val 9231"/>
            </a:avLst>
          </a:prstGeom>
          <a:solidFill>
            <a:srgbClr val="f6f0ff"/>
          </a:solidFill>
          <a:ln w="12700">
            <a:solidFill>
              <a:srgbClr val="f6f0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50" name="Text 15"/>
          <p:cNvSpPr/>
          <p:nvPr/>
        </p:nvSpPr>
        <p:spPr>
          <a:xfrm>
            <a:off x="7799760" y="1737360"/>
            <a:ext cx="148104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6941c6"/>
                </a:solidFill>
                <a:effectLst/>
                <a:uFillTx/>
                <a:latin typeface="Aptos"/>
              </a:rPr>
              <a:t>premium.csv</a:t>
            </a:r>
            <a:endParaRPr b="0" lang="fr-FR" sz="1200" strike="noStrike" u="none">
              <a:solidFill>
                <a:srgbClr val="000000"/>
              </a:solidFill>
              <a:effectLst/>
              <a:uFillTx/>
              <a:latin typeface="Arial"/>
            </a:endParaRPr>
          </a:p>
        </p:txBody>
      </p:sp>
      <p:sp>
        <p:nvSpPr>
          <p:cNvPr id="51" name="Shape 16"/>
          <p:cNvSpPr/>
          <p:nvPr/>
        </p:nvSpPr>
        <p:spPr>
          <a:xfrm>
            <a:off x="7726680" y="2432160"/>
            <a:ext cx="1627200" cy="594000"/>
          </a:xfrm>
          <a:prstGeom prst="roundRect">
            <a:avLst>
              <a:gd name="adj" fmla="val 9231"/>
            </a:avLst>
          </a:prstGeom>
          <a:solidFill>
            <a:srgbClr val="f3faf2"/>
          </a:solidFill>
          <a:ln w="12700">
            <a:solidFill>
              <a:srgbClr val="f3faf2">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52" name="Text 17"/>
          <p:cNvSpPr/>
          <p:nvPr/>
        </p:nvSpPr>
        <p:spPr>
          <a:xfrm>
            <a:off x="7799760" y="2505600"/>
            <a:ext cx="148104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2e7d32"/>
                </a:solidFill>
                <a:effectLst/>
                <a:uFillTx/>
                <a:latin typeface="Aptos"/>
              </a:rPr>
              <a:t>ordinaires.csv</a:t>
            </a:r>
            <a:endParaRPr b="0" lang="fr-FR" sz="1200" strike="noStrike" u="none">
              <a:solidFill>
                <a:srgbClr val="000000"/>
              </a:solidFill>
              <a:effectLst/>
              <a:uFillTx/>
              <a:latin typeface="Arial"/>
            </a:endParaRPr>
          </a:p>
        </p:txBody>
      </p:sp>
      <p:sp>
        <p:nvSpPr>
          <p:cNvPr id="53" name="Text 18"/>
          <p:cNvSpPr/>
          <p:nvPr/>
        </p:nvSpPr>
        <p:spPr>
          <a:xfrm>
            <a:off x="749880" y="324612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12355b"/>
                </a:solidFill>
                <a:effectLst/>
                <a:uFillTx/>
                <a:latin typeface="Aptos"/>
              </a:rPr>
              <a:t>Contraintes</a:t>
            </a:r>
            <a:endParaRPr b="0" lang="fr-FR" sz="1700" strike="noStrike" u="none">
              <a:solidFill>
                <a:srgbClr val="000000"/>
              </a:solidFill>
              <a:effectLst/>
              <a:uFillTx/>
              <a:latin typeface="Arial"/>
            </a:endParaRPr>
          </a:p>
        </p:txBody>
      </p:sp>
      <p:sp>
        <p:nvSpPr>
          <p:cNvPr id="54" name="Shape 19"/>
          <p:cNvSpPr/>
          <p:nvPr/>
        </p:nvSpPr>
        <p:spPr>
          <a:xfrm>
            <a:off x="777240" y="37490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55" name="Text 20"/>
          <p:cNvSpPr/>
          <p:nvPr/>
        </p:nvSpPr>
        <p:spPr>
          <a:xfrm>
            <a:off x="941760" y="36849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un test après chaque étape critique</a:t>
            </a:r>
            <a:endParaRPr b="0" lang="fr-FR" sz="1500" strike="noStrike" u="none">
              <a:solidFill>
                <a:srgbClr val="000000"/>
              </a:solidFill>
              <a:effectLst/>
              <a:uFillTx/>
              <a:latin typeface="Arial"/>
            </a:endParaRPr>
          </a:p>
        </p:txBody>
      </p:sp>
      <p:sp>
        <p:nvSpPr>
          <p:cNvPr id="56" name="Shape 21"/>
          <p:cNvSpPr/>
          <p:nvPr/>
        </p:nvSpPr>
        <p:spPr>
          <a:xfrm>
            <a:off x="777240" y="42062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57" name="Text 22"/>
          <p:cNvSpPr/>
          <p:nvPr/>
        </p:nvSpPr>
        <p:spPr>
          <a:xfrm>
            <a:off x="941760" y="41421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exécution mensuelle le 15 à 9h</a:t>
            </a:r>
            <a:endParaRPr b="0" lang="fr-FR" sz="1500" strike="noStrike" u="none">
              <a:solidFill>
                <a:srgbClr val="000000"/>
              </a:solidFill>
              <a:effectLst/>
              <a:uFillTx/>
              <a:latin typeface="Arial"/>
            </a:endParaRPr>
          </a:p>
        </p:txBody>
      </p:sp>
      <p:sp>
        <p:nvSpPr>
          <p:cNvPr id="58" name="Shape 23"/>
          <p:cNvSpPr/>
          <p:nvPr/>
        </p:nvSpPr>
        <p:spPr>
          <a:xfrm>
            <a:off x="777240" y="46634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59" name="Text 24"/>
          <p:cNvSpPr/>
          <p:nvPr/>
        </p:nvSpPr>
        <p:spPr>
          <a:xfrm>
            <a:off x="941760" y="4599360"/>
            <a:ext cx="420588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500" strike="noStrike" u="none">
                <a:solidFill>
                  <a:srgbClr val="1f2937"/>
                </a:solidFill>
                <a:effectLst/>
                <a:uFillTx/>
                <a:latin typeface="Aptos"/>
              </a:rPr>
              <a:t>réponse aux erreurs et aux nouvelles sources</a:t>
            </a:r>
            <a:endParaRPr b="0" lang="fr-FR" sz="1500" strike="noStrike" u="none">
              <a:solidFill>
                <a:srgbClr val="000000"/>
              </a:solidFill>
              <a:effectLst/>
              <a:uFillTx/>
              <a:latin typeface="Arial"/>
            </a:endParaRPr>
          </a:p>
        </p:txBody>
      </p:sp>
      <p:sp>
        <p:nvSpPr>
          <p:cNvPr id="60" name="Text 25"/>
          <p:cNvSpPr/>
          <p:nvPr/>
        </p:nvSpPr>
        <p:spPr>
          <a:xfrm>
            <a:off x="6172200" y="324612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12355b"/>
                </a:solidFill>
                <a:effectLst/>
                <a:uFillTx/>
                <a:latin typeface="Aptos"/>
              </a:rPr>
              <a:t>Rendu attendu</a:t>
            </a:r>
            <a:endParaRPr b="0" lang="fr-FR" sz="1700" strike="noStrike" u="none">
              <a:solidFill>
                <a:srgbClr val="000000"/>
              </a:solidFill>
              <a:effectLst/>
              <a:uFillTx/>
              <a:latin typeface="Arial"/>
            </a:endParaRPr>
          </a:p>
        </p:txBody>
      </p:sp>
      <p:sp>
        <p:nvSpPr>
          <p:cNvPr id="61" name="Shape 26"/>
          <p:cNvSpPr/>
          <p:nvPr/>
        </p:nvSpPr>
        <p:spPr>
          <a:xfrm>
            <a:off x="6217920" y="37490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62" name="Text 27"/>
          <p:cNvSpPr/>
          <p:nvPr/>
        </p:nvSpPr>
        <p:spPr>
          <a:xfrm>
            <a:off x="6382440" y="36849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un dépôt GitHub unique</a:t>
            </a:r>
            <a:endParaRPr b="0" lang="fr-FR" sz="1500" strike="noStrike" u="none">
              <a:solidFill>
                <a:srgbClr val="000000"/>
              </a:solidFill>
              <a:effectLst/>
              <a:uFillTx/>
              <a:latin typeface="Arial"/>
            </a:endParaRPr>
          </a:p>
        </p:txBody>
      </p:sp>
      <p:sp>
        <p:nvSpPr>
          <p:cNvPr id="63" name="Shape 28"/>
          <p:cNvSpPr/>
          <p:nvPr/>
        </p:nvSpPr>
        <p:spPr>
          <a:xfrm>
            <a:off x="6217920" y="42062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64" name="Text 29"/>
          <p:cNvSpPr/>
          <p:nvPr/>
        </p:nvSpPr>
        <p:spPr>
          <a:xfrm>
            <a:off x="6382440" y="41421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un workflow Kestra complet</a:t>
            </a:r>
            <a:endParaRPr b="0" lang="fr-FR" sz="1500" strike="noStrike" u="none">
              <a:solidFill>
                <a:srgbClr val="000000"/>
              </a:solidFill>
              <a:effectLst/>
              <a:uFillTx/>
              <a:latin typeface="Arial"/>
            </a:endParaRPr>
          </a:p>
        </p:txBody>
      </p:sp>
      <p:sp>
        <p:nvSpPr>
          <p:cNvPr id="65" name="Shape 30"/>
          <p:cNvSpPr/>
          <p:nvPr/>
        </p:nvSpPr>
        <p:spPr>
          <a:xfrm>
            <a:off x="6217920" y="46634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66" name="Text 31"/>
          <p:cNvSpPr/>
          <p:nvPr/>
        </p:nvSpPr>
        <p:spPr>
          <a:xfrm>
            <a:off x="6382440" y="45993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logigramme, captures, README, outputs</a:t>
            </a:r>
            <a:endParaRPr b="0" lang="fr-FR" sz="1500" strike="noStrike" u="none">
              <a:solidFill>
                <a:srgbClr val="000000"/>
              </a:solidFill>
              <a:effectLst/>
              <a:uFillTx/>
              <a:latin typeface="Arial"/>
            </a:endParaRPr>
          </a:p>
        </p:txBody>
      </p:sp>
      <p:sp>
        <p:nvSpPr>
          <p:cNvPr id="67" name="Text 32"/>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2</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69"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750" strike="noStrike" u="none">
                <a:solidFill>
                  <a:srgbClr val="667085"/>
                </a:solidFill>
                <a:effectLst/>
                <a:uFillTx/>
                <a:latin typeface="Aptos"/>
              </a:rPr>
              <a:t>ARCHITECTURE</a:t>
            </a:r>
            <a:endParaRPr b="0" lang="fr-FR" sz="750" strike="noStrike" u="none">
              <a:solidFill>
                <a:srgbClr val="000000"/>
              </a:solidFill>
              <a:effectLst/>
              <a:uFillTx/>
              <a:latin typeface="Arial"/>
            </a:endParaRPr>
          </a:p>
        </p:txBody>
      </p:sp>
      <p:sp>
        <p:nvSpPr>
          <p:cNvPr id="70"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700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Architecture : Kestra orchestre, les scripts traitent</a:t>
            </a:r>
            <a:endParaRPr b="0" lang="fr-FR" sz="2900" strike="noStrike" u="none">
              <a:solidFill>
                <a:srgbClr val="000000"/>
              </a:solidFill>
              <a:effectLst/>
              <a:uFillTx/>
              <a:latin typeface="Arial"/>
            </a:endParaRPr>
          </a:p>
        </p:txBody>
      </p:sp>
      <p:sp>
        <p:nvSpPr>
          <p:cNvPr id="71"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50" strike="noStrike" u="none">
                <a:solidFill>
                  <a:srgbClr val="667085"/>
                </a:solidFill>
                <a:effectLst/>
                <a:uFillTx/>
                <a:latin typeface="Aptos"/>
              </a:rPr>
              <a:t>La logique métier reste dans SQL et Python ; Kestra coordonne les étapes</a:t>
            </a:r>
            <a:endParaRPr b="0" lang="fr-FR" sz="1150" strike="noStrike" u="none">
              <a:solidFill>
                <a:srgbClr val="000000"/>
              </a:solidFill>
              <a:effectLst/>
              <a:uFillTx/>
              <a:latin typeface="Arial"/>
            </a:endParaRPr>
          </a:p>
        </p:txBody>
      </p:sp>
      <p:sp>
        <p:nvSpPr>
          <p:cNvPr id="72" name="Shape 4"/>
          <p:cNvSpPr/>
          <p:nvPr/>
        </p:nvSpPr>
        <p:spPr>
          <a:xfrm>
            <a:off x="822960" y="1280160"/>
            <a:ext cx="1828440" cy="639720"/>
          </a:xfrm>
          <a:prstGeom prst="roundRect">
            <a:avLst>
              <a:gd name="adj" fmla="val 8571"/>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3" name="Text 5"/>
          <p:cNvSpPr/>
          <p:nvPr/>
        </p:nvSpPr>
        <p:spPr>
          <a:xfrm>
            <a:off x="896040" y="1353240"/>
            <a:ext cx="168228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1f2937"/>
                </a:solidFill>
                <a:effectLst/>
                <a:uFillTx/>
                <a:latin typeface="Aptos"/>
              </a:rPr>
              <a:t>GitHub</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1f2937"/>
                </a:solidFill>
                <a:effectLst/>
                <a:uFillTx/>
                <a:latin typeface="Aptos"/>
              </a:rPr>
              <a:t>versioning</a:t>
            </a:r>
            <a:endParaRPr b="0" lang="fr-FR" sz="1200" strike="noStrike" u="none">
              <a:solidFill>
                <a:srgbClr val="000000"/>
              </a:solidFill>
              <a:effectLst/>
              <a:uFillTx/>
              <a:latin typeface="Arial"/>
            </a:endParaRPr>
          </a:p>
        </p:txBody>
      </p:sp>
      <p:sp>
        <p:nvSpPr>
          <p:cNvPr id="74" name="Shape 6"/>
          <p:cNvSpPr/>
          <p:nvPr/>
        </p:nvSpPr>
        <p:spPr>
          <a:xfrm>
            <a:off x="2926080" y="1280160"/>
            <a:ext cx="1828440" cy="639720"/>
          </a:xfrm>
          <a:prstGeom prst="roundRect">
            <a:avLst>
              <a:gd name="adj" fmla="val 8571"/>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5" name="Text 7"/>
          <p:cNvSpPr/>
          <p:nvPr/>
        </p:nvSpPr>
        <p:spPr>
          <a:xfrm>
            <a:off x="2999160" y="1353240"/>
            <a:ext cx="168228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12355b"/>
                </a:solidFill>
                <a:effectLst/>
                <a:uFillTx/>
                <a:latin typeface="Aptos"/>
              </a:rPr>
              <a:t>Docker</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12355b"/>
                </a:solidFill>
                <a:effectLst/>
                <a:uFillTx/>
                <a:latin typeface="Aptos"/>
              </a:rPr>
              <a:t>environnement</a:t>
            </a:r>
            <a:endParaRPr b="0" lang="fr-FR" sz="1200" strike="noStrike" u="none">
              <a:solidFill>
                <a:srgbClr val="000000"/>
              </a:solidFill>
              <a:effectLst/>
              <a:uFillTx/>
              <a:latin typeface="Arial"/>
            </a:endParaRPr>
          </a:p>
        </p:txBody>
      </p:sp>
      <p:sp>
        <p:nvSpPr>
          <p:cNvPr id="76" name="Shape 8"/>
          <p:cNvSpPr/>
          <p:nvPr/>
        </p:nvSpPr>
        <p:spPr>
          <a:xfrm>
            <a:off x="5029200" y="1280160"/>
            <a:ext cx="1828440" cy="639720"/>
          </a:xfrm>
          <a:prstGeom prst="roundRect">
            <a:avLst>
              <a:gd name="adj" fmla="val 8571"/>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7" name="Text 9"/>
          <p:cNvSpPr/>
          <p:nvPr/>
        </p:nvSpPr>
        <p:spPr>
          <a:xfrm>
            <a:off x="5102280" y="1353240"/>
            <a:ext cx="168228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27c0e"/>
                </a:solidFill>
                <a:effectLst/>
                <a:uFillTx/>
                <a:latin typeface="Aptos"/>
              </a:rPr>
              <a:t>DuckDB</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c27c0e"/>
                </a:solidFill>
                <a:effectLst/>
                <a:uFillTx/>
                <a:latin typeface="Aptos"/>
              </a:rPr>
              <a:t>SQL local</a:t>
            </a:r>
            <a:endParaRPr b="0" lang="fr-FR" sz="1200" strike="noStrike" u="none">
              <a:solidFill>
                <a:srgbClr val="000000"/>
              </a:solidFill>
              <a:effectLst/>
              <a:uFillTx/>
              <a:latin typeface="Arial"/>
            </a:endParaRPr>
          </a:p>
        </p:txBody>
      </p:sp>
      <p:sp>
        <p:nvSpPr>
          <p:cNvPr id="78" name="Shape 10"/>
          <p:cNvSpPr/>
          <p:nvPr/>
        </p:nvSpPr>
        <p:spPr>
          <a:xfrm>
            <a:off x="7132320" y="1280160"/>
            <a:ext cx="1828440" cy="639720"/>
          </a:xfrm>
          <a:prstGeom prst="roundRect">
            <a:avLst>
              <a:gd name="adj" fmla="val 8571"/>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9" name="Text 11"/>
          <p:cNvSpPr/>
          <p:nvPr/>
        </p:nvSpPr>
        <p:spPr>
          <a:xfrm>
            <a:off x="7205400" y="1353240"/>
            <a:ext cx="168228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0e7c7b"/>
                </a:solidFill>
                <a:effectLst/>
                <a:uFillTx/>
                <a:latin typeface="Aptos"/>
              </a:rPr>
              <a:t>Python</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0e7c7b"/>
                </a:solidFill>
                <a:effectLst/>
                <a:uFillTx/>
                <a:latin typeface="Aptos"/>
              </a:rPr>
              <a:t>z-score · exports</a:t>
            </a:r>
            <a:endParaRPr b="0" lang="fr-FR" sz="1200" strike="noStrike" u="none">
              <a:solidFill>
                <a:srgbClr val="000000"/>
              </a:solidFill>
              <a:effectLst/>
              <a:uFillTx/>
              <a:latin typeface="Arial"/>
            </a:endParaRPr>
          </a:p>
        </p:txBody>
      </p:sp>
      <p:sp>
        <p:nvSpPr>
          <p:cNvPr id="80" name="Shape 12"/>
          <p:cNvSpPr/>
          <p:nvPr/>
        </p:nvSpPr>
        <p:spPr>
          <a:xfrm>
            <a:off x="9235440" y="1280160"/>
            <a:ext cx="1828440" cy="639720"/>
          </a:xfrm>
          <a:prstGeom prst="roundRect">
            <a:avLst>
              <a:gd name="adj" fmla="val 8571"/>
            </a:avLst>
          </a:prstGeom>
          <a:solidFill>
            <a:srgbClr val="ede9fe"/>
          </a:solidFill>
          <a:ln w="12700">
            <a:solidFill>
              <a:srgbClr val="ede9fe">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81" name="Text 13"/>
          <p:cNvSpPr/>
          <p:nvPr/>
        </p:nvSpPr>
        <p:spPr>
          <a:xfrm>
            <a:off x="9308520" y="1353240"/>
            <a:ext cx="168228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6941c6"/>
                </a:solidFill>
                <a:effectLst/>
                <a:uFillTx/>
                <a:latin typeface="Aptos"/>
              </a:rPr>
              <a:t>Kestra</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6941c6"/>
                </a:solidFill>
                <a:effectLst/>
                <a:uFillTx/>
                <a:latin typeface="Aptos"/>
              </a:rPr>
              <a:t>workflow</a:t>
            </a:r>
            <a:endParaRPr b="0" lang="fr-FR" sz="1200" strike="noStrike" u="none">
              <a:solidFill>
                <a:srgbClr val="000000"/>
              </a:solidFill>
              <a:effectLst/>
              <a:uFillTx/>
              <a:latin typeface="Arial"/>
            </a:endParaRPr>
          </a:p>
        </p:txBody>
      </p:sp>
      <p:sp>
        <p:nvSpPr>
          <p:cNvPr id="82" name="Shape 14"/>
          <p:cNvSpPr/>
          <p:nvPr/>
        </p:nvSpPr>
        <p:spPr>
          <a:xfrm>
            <a:off x="2724840" y="1600200"/>
            <a:ext cx="1555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3" name="Shape 15"/>
          <p:cNvSpPr/>
          <p:nvPr/>
        </p:nvSpPr>
        <p:spPr>
          <a:xfrm>
            <a:off x="4827960" y="1600200"/>
            <a:ext cx="1555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4" name="Shape 16"/>
          <p:cNvSpPr/>
          <p:nvPr/>
        </p:nvSpPr>
        <p:spPr>
          <a:xfrm>
            <a:off x="6931080" y="1600200"/>
            <a:ext cx="1555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5" name="Shape 17"/>
          <p:cNvSpPr/>
          <p:nvPr/>
        </p:nvSpPr>
        <p:spPr>
          <a:xfrm>
            <a:off x="9034200" y="1600200"/>
            <a:ext cx="1555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6" name="Text 18"/>
          <p:cNvSpPr/>
          <p:nvPr/>
        </p:nvSpPr>
        <p:spPr>
          <a:xfrm>
            <a:off x="868680" y="2743200"/>
            <a:ext cx="29257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6941c6"/>
                </a:solidFill>
                <a:effectLst/>
                <a:uFillTx/>
                <a:latin typeface="Aptos"/>
              </a:rPr>
              <a:t>Pourquoi Kestra ?</a:t>
            </a:r>
            <a:endParaRPr b="0" lang="fr-FR" sz="1700" strike="noStrike" u="none">
              <a:solidFill>
                <a:srgbClr val="000000"/>
              </a:solidFill>
              <a:effectLst/>
              <a:uFillTx/>
              <a:latin typeface="Arial"/>
            </a:endParaRPr>
          </a:p>
        </p:txBody>
      </p:sp>
      <p:sp>
        <p:nvSpPr>
          <p:cNvPr id="87" name="Shape 19"/>
          <p:cNvSpPr/>
          <p:nvPr/>
        </p:nvSpPr>
        <p:spPr>
          <a:xfrm>
            <a:off x="914400" y="321876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88" name="Text 20"/>
          <p:cNvSpPr/>
          <p:nvPr/>
        </p:nvSpPr>
        <p:spPr>
          <a:xfrm>
            <a:off x="1078920" y="315468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workflow déclaratif et lisible</a:t>
            </a:r>
            <a:endParaRPr b="0" lang="fr-FR" sz="1450" strike="noStrike" u="none">
              <a:solidFill>
                <a:srgbClr val="000000"/>
              </a:solidFill>
              <a:effectLst/>
              <a:uFillTx/>
              <a:latin typeface="Arial"/>
            </a:endParaRPr>
          </a:p>
        </p:txBody>
      </p:sp>
      <p:sp>
        <p:nvSpPr>
          <p:cNvPr id="89" name="Shape 21"/>
          <p:cNvSpPr/>
          <p:nvPr/>
        </p:nvSpPr>
        <p:spPr>
          <a:xfrm>
            <a:off x="914400" y="364860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90" name="Text 22"/>
          <p:cNvSpPr/>
          <p:nvPr/>
        </p:nvSpPr>
        <p:spPr>
          <a:xfrm>
            <a:off x="1078920" y="358452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visualisation des succès / échecs</a:t>
            </a:r>
            <a:endParaRPr b="0" lang="fr-FR" sz="1450" strike="noStrike" u="none">
              <a:solidFill>
                <a:srgbClr val="000000"/>
              </a:solidFill>
              <a:effectLst/>
              <a:uFillTx/>
              <a:latin typeface="Arial"/>
            </a:endParaRPr>
          </a:p>
        </p:txBody>
      </p:sp>
      <p:sp>
        <p:nvSpPr>
          <p:cNvPr id="91" name="Shape 23"/>
          <p:cNvSpPr/>
          <p:nvPr/>
        </p:nvSpPr>
        <p:spPr>
          <a:xfrm>
            <a:off x="914400" y="407808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92" name="Text 24"/>
          <p:cNvSpPr/>
          <p:nvPr/>
        </p:nvSpPr>
        <p:spPr>
          <a:xfrm>
            <a:off x="1078920" y="40143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cron, retries, branches parallèles</a:t>
            </a:r>
            <a:endParaRPr b="0" lang="fr-FR" sz="1450" strike="noStrike" u="none">
              <a:solidFill>
                <a:srgbClr val="000000"/>
              </a:solidFill>
              <a:effectLst/>
              <a:uFillTx/>
              <a:latin typeface="Arial"/>
            </a:endParaRPr>
          </a:p>
        </p:txBody>
      </p:sp>
      <p:sp>
        <p:nvSpPr>
          <p:cNvPr id="93" name="Text 25"/>
          <p:cNvSpPr/>
          <p:nvPr/>
        </p:nvSpPr>
        <p:spPr>
          <a:xfrm>
            <a:off x="6035040" y="2743200"/>
            <a:ext cx="29257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c27c0e"/>
                </a:solidFill>
                <a:effectLst/>
                <a:uFillTx/>
                <a:latin typeface="Aptos"/>
              </a:rPr>
              <a:t>Pourquoi DuckDB ?</a:t>
            </a:r>
            <a:endParaRPr b="0" lang="fr-FR" sz="1700" strike="noStrike" u="none">
              <a:solidFill>
                <a:srgbClr val="000000"/>
              </a:solidFill>
              <a:effectLst/>
              <a:uFillTx/>
              <a:latin typeface="Arial"/>
            </a:endParaRPr>
          </a:p>
        </p:txBody>
      </p:sp>
      <p:sp>
        <p:nvSpPr>
          <p:cNvPr id="94" name="Shape 26"/>
          <p:cNvSpPr/>
          <p:nvPr/>
        </p:nvSpPr>
        <p:spPr>
          <a:xfrm>
            <a:off x="6080760" y="321876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95" name="Text 27"/>
          <p:cNvSpPr/>
          <p:nvPr/>
        </p:nvSpPr>
        <p:spPr>
          <a:xfrm>
            <a:off x="6245280" y="315468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SQL analytique local et léger</a:t>
            </a:r>
            <a:endParaRPr b="0" lang="fr-FR" sz="1450" strike="noStrike" u="none">
              <a:solidFill>
                <a:srgbClr val="000000"/>
              </a:solidFill>
              <a:effectLst/>
              <a:uFillTx/>
              <a:latin typeface="Arial"/>
            </a:endParaRPr>
          </a:p>
        </p:txBody>
      </p:sp>
      <p:sp>
        <p:nvSpPr>
          <p:cNvPr id="96" name="Shape 28"/>
          <p:cNvSpPr/>
          <p:nvPr/>
        </p:nvSpPr>
        <p:spPr>
          <a:xfrm>
            <a:off x="6080760" y="364860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97" name="Text 29"/>
          <p:cNvSpPr/>
          <p:nvPr/>
        </p:nvSpPr>
        <p:spPr>
          <a:xfrm>
            <a:off x="6245280" y="358452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adapté aux fichiers Excel du projet</a:t>
            </a:r>
            <a:endParaRPr b="0" lang="fr-FR" sz="1450" strike="noStrike" u="none">
              <a:solidFill>
                <a:srgbClr val="000000"/>
              </a:solidFill>
              <a:effectLst/>
              <a:uFillTx/>
              <a:latin typeface="Arial"/>
            </a:endParaRPr>
          </a:p>
        </p:txBody>
      </p:sp>
      <p:sp>
        <p:nvSpPr>
          <p:cNvPr id="98" name="Shape 30"/>
          <p:cNvSpPr/>
          <p:nvPr/>
        </p:nvSpPr>
        <p:spPr>
          <a:xfrm>
            <a:off x="6080760" y="407808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99" name="Text 31"/>
          <p:cNvSpPr/>
          <p:nvPr/>
        </p:nvSpPr>
        <p:spPr>
          <a:xfrm>
            <a:off x="6245280" y="40143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reproductible avec Docker</a:t>
            </a:r>
            <a:endParaRPr b="0" lang="fr-FR" sz="1450" strike="noStrike" u="none">
              <a:solidFill>
                <a:srgbClr val="000000"/>
              </a:solidFill>
              <a:effectLst/>
              <a:uFillTx/>
              <a:latin typeface="Arial"/>
            </a:endParaRPr>
          </a:p>
        </p:txBody>
      </p:sp>
      <p:sp>
        <p:nvSpPr>
          <p:cNvPr id="100" name="Shape 32"/>
          <p:cNvSpPr/>
          <p:nvPr/>
        </p:nvSpPr>
        <p:spPr>
          <a:xfrm>
            <a:off x="3246120" y="5303520"/>
            <a:ext cx="5806080" cy="310680"/>
          </a:xfrm>
          <a:prstGeom prst="roundRect">
            <a:avLst>
              <a:gd name="adj" fmla="val 50000"/>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01" name="Text 33"/>
          <p:cNvSpPr/>
          <p:nvPr/>
        </p:nvSpPr>
        <p:spPr>
          <a:xfrm>
            <a:off x="3319200" y="5376600"/>
            <a:ext cx="565992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ptos"/>
              </a:rPr>
              <a:t>Principe : Kestra orchestre, mais ne contient pas la logique métier</a:t>
            </a:r>
            <a:endParaRPr b="0" lang="fr-FR" sz="900" strike="noStrike" u="none">
              <a:solidFill>
                <a:srgbClr val="000000"/>
              </a:solidFill>
              <a:effectLst/>
              <a:uFillTx/>
              <a:latin typeface="Arial"/>
            </a:endParaRPr>
          </a:p>
        </p:txBody>
      </p:sp>
      <p:sp>
        <p:nvSpPr>
          <p:cNvPr id="102" name="Text 34"/>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3</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04"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trike="noStrike" u="none">
                <a:solidFill>
                  <a:srgbClr val="667085"/>
                </a:solidFill>
                <a:effectLst/>
                <a:uFillTx/>
                <a:latin typeface="Aptos"/>
              </a:rPr>
              <a:t>PIPELINE</a:t>
            </a:r>
            <a:endParaRPr b="0" lang="fr-FR" sz="750" strike="noStrike" u="none">
              <a:solidFill>
                <a:srgbClr val="000000"/>
              </a:solidFill>
              <a:effectLst/>
              <a:uFillTx/>
              <a:latin typeface="Arial"/>
            </a:endParaRPr>
          </a:p>
        </p:txBody>
      </p:sp>
      <p:sp>
        <p:nvSpPr>
          <p:cNvPr id="105"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625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Workflow principal : traitement + test après chaque étape</a:t>
            </a:r>
            <a:endParaRPr b="0" lang="fr-FR" sz="2900" strike="noStrike" u="none">
              <a:solidFill>
                <a:srgbClr val="000000"/>
              </a:solidFill>
              <a:effectLst/>
              <a:uFillTx/>
              <a:latin typeface="Arial"/>
            </a:endParaRPr>
          </a:p>
        </p:txBody>
      </p:sp>
      <p:sp>
        <p:nvSpPr>
          <p:cNvPr id="106"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50" strike="noStrike" u="none">
                <a:solidFill>
                  <a:srgbClr val="667085"/>
                </a:solidFill>
                <a:effectLst/>
                <a:uFillTx/>
                <a:latin typeface="Aptos"/>
              </a:rPr>
              <a:t>Une chaîne nominale contrôlée jusqu’aux exports métier</a:t>
            </a:r>
            <a:endParaRPr b="0" lang="fr-FR" sz="1150" strike="noStrike" u="none">
              <a:solidFill>
                <a:srgbClr val="000000"/>
              </a:solidFill>
              <a:effectLst/>
              <a:uFillTx/>
              <a:latin typeface="Arial"/>
            </a:endParaRPr>
          </a:p>
        </p:txBody>
      </p:sp>
      <p:sp>
        <p:nvSpPr>
          <p:cNvPr id="107" name="Shape 4"/>
          <p:cNvSpPr/>
          <p:nvPr/>
        </p:nvSpPr>
        <p:spPr>
          <a:xfrm>
            <a:off x="594360" y="1234440"/>
            <a:ext cx="1416960" cy="475200"/>
          </a:xfrm>
          <a:prstGeom prst="roundRect">
            <a:avLst>
              <a:gd name="adj" fmla="val 11538"/>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08" name="Text 5"/>
          <p:cNvSpPr/>
          <p:nvPr/>
        </p:nvSpPr>
        <p:spPr>
          <a:xfrm>
            <a:off x="667440" y="130752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2355b"/>
                </a:solidFill>
                <a:effectLst/>
                <a:uFillTx/>
                <a:latin typeface="Aptos"/>
              </a:rPr>
              <a:t>Nettoyage</a:t>
            </a:r>
            <a:endParaRPr b="0" lang="fr-FR" sz="1050" strike="noStrike" u="none">
              <a:solidFill>
                <a:srgbClr val="000000"/>
              </a:solidFill>
              <a:effectLst/>
              <a:uFillTx/>
              <a:latin typeface="Arial"/>
            </a:endParaRPr>
          </a:p>
        </p:txBody>
      </p:sp>
      <p:sp>
        <p:nvSpPr>
          <p:cNvPr id="109" name="Shape 6"/>
          <p:cNvSpPr/>
          <p:nvPr/>
        </p:nvSpPr>
        <p:spPr>
          <a:xfrm>
            <a:off x="2039040" y="1472040"/>
            <a:ext cx="97848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10" name="Shape 7"/>
          <p:cNvSpPr/>
          <p:nvPr/>
        </p:nvSpPr>
        <p:spPr>
          <a:xfrm>
            <a:off x="3063240" y="1234440"/>
            <a:ext cx="1416960" cy="475200"/>
          </a:xfrm>
          <a:prstGeom prst="roundRect">
            <a:avLst>
              <a:gd name="adj" fmla="val 11538"/>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1" name="Text 8"/>
          <p:cNvSpPr/>
          <p:nvPr/>
        </p:nvSpPr>
        <p:spPr>
          <a:xfrm>
            <a:off x="3136320" y="130752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2e7d32"/>
                </a:solidFill>
                <a:effectLst/>
                <a:uFillTx/>
                <a:latin typeface="Aptos"/>
              </a:rPr>
              <a:t>Test nettoyage</a:t>
            </a:r>
            <a:endParaRPr b="0" lang="fr-FR" sz="1050" strike="noStrike" u="none">
              <a:solidFill>
                <a:srgbClr val="000000"/>
              </a:solidFill>
              <a:effectLst/>
              <a:uFillTx/>
              <a:latin typeface="Arial"/>
            </a:endParaRPr>
          </a:p>
        </p:txBody>
      </p:sp>
      <p:sp>
        <p:nvSpPr>
          <p:cNvPr id="112" name="Shape 9"/>
          <p:cNvSpPr/>
          <p:nvPr/>
        </p:nvSpPr>
        <p:spPr>
          <a:xfrm flipH="1">
            <a:off x="1307520" y="1746360"/>
            <a:ext cx="2468880" cy="265320"/>
          </a:xfrm>
          <a:prstGeom prst="line">
            <a:avLst/>
          </a:prstGeom>
          <a:ln w="10795">
            <a:solidFill>
              <a:srgbClr val="d0d5dd"/>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113" name="Shape 10"/>
          <p:cNvSpPr/>
          <p:nvPr/>
        </p:nvSpPr>
        <p:spPr>
          <a:xfrm>
            <a:off x="594360" y="2057400"/>
            <a:ext cx="1416960" cy="475200"/>
          </a:xfrm>
          <a:prstGeom prst="roundRect">
            <a:avLst>
              <a:gd name="adj" fmla="val 11538"/>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4" name="Text 11"/>
          <p:cNvSpPr/>
          <p:nvPr/>
        </p:nvSpPr>
        <p:spPr>
          <a:xfrm>
            <a:off x="667440" y="213048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2355b"/>
                </a:solidFill>
                <a:effectLst/>
                <a:uFillTx/>
                <a:latin typeface="Aptos"/>
              </a:rPr>
              <a:t>Dédoublonnage</a:t>
            </a:r>
            <a:endParaRPr b="0" lang="fr-FR" sz="1050" strike="noStrike" u="none">
              <a:solidFill>
                <a:srgbClr val="000000"/>
              </a:solidFill>
              <a:effectLst/>
              <a:uFillTx/>
              <a:latin typeface="Arial"/>
            </a:endParaRPr>
          </a:p>
        </p:txBody>
      </p:sp>
      <p:sp>
        <p:nvSpPr>
          <p:cNvPr id="115" name="Shape 12"/>
          <p:cNvSpPr/>
          <p:nvPr/>
        </p:nvSpPr>
        <p:spPr>
          <a:xfrm>
            <a:off x="2039040" y="2295000"/>
            <a:ext cx="97848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16" name="Shape 13"/>
          <p:cNvSpPr/>
          <p:nvPr/>
        </p:nvSpPr>
        <p:spPr>
          <a:xfrm>
            <a:off x="3063240" y="2057400"/>
            <a:ext cx="1416960" cy="475200"/>
          </a:xfrm>
          <a:prstGeom prst="roundRect">
            <a:avLst>
              <a:gd name="adj" fmla="val 11538"/>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7" name="Text 14"/>
          <p:cNvSpPr/>
          <p:nvPr/>
        </p:nvSpPr>
        <p:spPr>
          <a:xfrm>
            <a:off x="3136320" y="213048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2e7d32"/>
                </a:solidFill>
                <a:effectLst/>
                <a:uFillTx/>
                <a:latin typeface="Aptos"/>
              </a:rPr>
              <a:t>Test doublons</a:t>
            </a:r>
            <a:endParaRPr b="0" lang="fr-FR" sz="1050" strike="noStrike" u="none">
              <a:solidFill>
                <a:srgbClr val="000000"/>
              </a:solidFill>
              <a:effectLst/>
              <a:uFillTx/>
              <a:latin typeface="Arial"/>
            </a:endParaRPr>
          </a:p>
        </p:txBody>
      </p:sp>
      <p:sp>
        <p:nvSpPr>
          <p:cNvPr id="118" name="Shape 15"/>
          <p:cNvSpPr/>
          <p:nvPr/>
        </p:nvSpPr>
        <p:spPr>
          <a:xfrm flipH="1">
            <a:off x="1307520" y="2569320"/>
            <a:ext cx="2468880" cy="265320"/>
          </a:xfrm>
          <a:prstGeom prst="line">
            <a:avLst/>
          </a:prstGeom>
          <a:ln w="10795">
            <a:solidFill>
              <a:srgbClr val="d0d5dd"/>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119" name="Shape 16"/>
          <p:cNvSpPr/>
          <p:nvPr/>
        </p:nvSpPr>
        <p:spPr>
          <a:xfrm>
            <a:off x="594360" y="2880360"/>
            <a:ext cx="1416960" cy="475200"/>
          </a:xfrm>
          <a:prstGeom prst="roundRect">
            <a:avLst>
              <a:gd name="adj" fmla="val 11538"/>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0" name="Text 17"/>
          <p:cNvSpPr/>
          <p:nvPr/>
        </p:nvSpPr>
        <p:spPr>
          <a:xfrm>
            <a:off x="667440" y="295344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2355b"/>
                </a:solidFill>
                <a:effectLst/>
                <a:uFillTx/>
                <a:latin typeface="Aptos"/>
              </a:rPr>
              <a:t>Jointure</a:t>
            </a:r>
            <a:endParaRPr b="0" lang="fr-FR" sz="1050" strike="noStrike" u="none">
              <a:solidFill>
                <a:srgbClr val="000000"/>
              </a:solidFill>
              <a:effectLst/>
              <a:uFillTx/>
              <a:latin typeface="Arial"/>
            </a:endParaRPr>
          </a:p>
        </p:txBody>
      </p:sp>
      <p:sp>
        <p:nvSpPr>
          <p:cNvPr id="121" name="Shape 18"/>
          <p:cNvSpPr/>
          <p:nvPr/>
        </p:nvSpPr>
        <p:spPr>
          <a:xfrm>
            <a:off x="2039040" y="3117960"/>
            <a:ext cx="97848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22" name="Shape 19"/>
          <p:cNvSpPr/>
          <p:nvPr/>
        </p:nvSpPr>
        <p:spPr>
          <a:xfrm>
            <a:off x="3063240" y="2880360"/>
            <a:ext cx="1416960" cy="475200"/>
          </a:xfrm>
          <a:prstGeom prst="roundRect">
            <a:avLst>
              <a:gd name="adj" fmla="val 11538"/>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3" name="Text 20"/>
          <p:cNvSpPr/>
          <p:nvPr/>
        </p:nvSpPr>
        <p:spPr>
          <a:xfrm>
            <a:off x="3136320" y="295344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2e7d32"/>
                </a:solidFill>
                <a:effectLst/>
                <a:uFillTx/>
                <a:latin typeface="Aptos"/>
              </a:rPr>
              <a:t>Test jointure</a:t>
            </a:r>
            <a:endParaRPr b="0" lang="fr-FR" sz="1050" strike="noStrike" u="none">
              <a:solidFill>
                <a:srgbClr val="000000"/>
              </a:solidFill>
              <a:effectLst/>
              <a:uFillTx/>
              <a:latin typeface="Arial"/>
            </a:endParaRPr>
          </a:p>
        </p:txBody>
      </p:sp>
      <p:sp>
        <p:nvSpPr>
          <p:cNvPr id="124" name="Shape 21"/>
          <p:cNvSpPr/>
          <p:nvPr/>
        </p:nvSpPr>
        <p:spPr>
          <a:xfrm flipH="1">
            <a:off x="1307520" y="3392280"/>
            <a:ext cx="2468880" cy="265320"/>
          </a:xfrm>
          <a:prstGeom prst="line">
            <a:avLst/>
          </a:prstGeom>
          <a:ln w="10795">
            <a:solidFill>
              <a:srgbClr val="d0d5dd"/>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125" name="Shape 22"/>
          <p:cNvSpPr/>
          <p:nvPr/>
        </p:nvSpPr>
        <p:spPr>
          <a:xfrm>
            <a:off x="594360" y="3703320"/>
            <a:ext cx="1416960" cy="475200"/>
          </a:xfrm>
          <a:prstGeom prst="roundRect">
            <a:avLst>
              <a:gd name="adj" fmla="val 11538"/>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6" name="Text 23"/>
          <p:cNvSpPr/>
          <p:nvPr/>
        </p:nvSpPr>
        <p:spPr>
          <a:xfrm>
            <a:off x="667440" y="377640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2355b"/>
                </a:solidFill>
                <a:effectLst/>
                <a:uFillTx/>
                <a:latin typeface="Aptos"/>
              </a:rPr>
              <a:t>Calcul CA</a:t>
            </a:r>
            <a:endParaRPr b="0" lang="fr-FR" sz="1050" strike="noStrike" u="none">
              <a:solidFill>
                <a:srgbClr val="000000"/>
              </a:solidFill>
              <a:effectLst/>
              <a:uFillTx/>
              <a:latin typeface="Arial"/>
            </a:endParaRPr>
          </a:p>
        </p:txBody>
      </p:sp>
      <p:sp>
        <p:nvSpPr>
          <p:cNvPr id="127" name="Shape 24"/>
          <p:cNvSpPr/>
          <p:nvPr/>
        </p:nvSpPr>
        <p:spPr>
          <a:xfrm>
            <a:off x="2039040" y="3940920"/>
            <a:ext cx="97848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28" name="Shape 25"/>
          <p:cNvSpPr/>
          <p:nvPr/>
        </p:nvSpPr>
        <p:spPr>
          <a:xfrm>
            <a:off x="3063240" y="3703320"/>
            <a:ext cx="1416960" cy="475200"/>
          </a:xfrm>
          <a:prstGeom prst="roundRect">
            <a:avLst>
              <a:gd name="adj" fmla="val 11538"/>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9" name="Text 26"/>
          <p:cNvSpPr/>
          <p:nvPr/>
        </p:nvSpPr>
        <p:spPr>
          <a:xfrm>
            <a:off x="3136320" y="377640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2e7d32"/>
                </a:solidFill>
                <a:effectLst/>
                <a:uFillTx/>
                <a:latin typeface="Aptos"/>
              </a:rPr>
              <a:t>Test CA</a:t>
            </a:r>
            <a:endParaRPr b="0" lang="fr-FR" sz="1050" strike="noStrike" u="none">
              <a:solidFill>
                <a:srgbClr val="000000"/>
              </a:solidFill>
              <a:effectLst/>
              <a:uFillTx/>
              <a:latin typeface="Arial"/>
            </a:endParaRPr>
          </a:p>
        </p:txBody>
      </p:sp>
      <p:sp>
        <p:nvSpPr>
          <p:cNvPr id="130" name="Shape 27"/>
          <p:cNvSpPr/>
          <p:nvPr/>
        </p:nvSpPr>
        <p:spPr>
          <a:xfrm flipH="1">
            <a:off x="1307520" y="4215240"/>
            <a:ext cx="2468880" cy="265320"/>
          </a:xfrm>
          <a:prstGeom prst="line">
            <a:avLst/>
          </a:prstGeom>
          <a:ln w="10795">
            <a:solidFill>
              <a:srgbClr val="d0d5dd"/>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131" name="Shape 28"/>
          <p:cNvSpPr/>
          <p:nvPr/>
        </p:nvSpPr>
        <p:spPr>
          <a:xfrm>
            <a:off x="594360" y="4526280"/>
            <a:ext cx="1416960" cy="475200"/>
          </a:xfrm>
          <a:prstGeom prst="roundRect">
            <a:avLst>
              <a:gd name="adj" fmla="val 11538"/>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32" name="Text 29"/>
          <p:cNvSpPr/>
          <p:nvPr/>
        </p:nvSpPr>
        <p:spPr>
          <a:xfrm>
            <a:off x="667440" y="459936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2355b"/>
                </a:solidFill>
                <a:effectLst/>
                <a:uFillTx/>
                <a:latin typeface="Aptos"/>
              </a:rPr>
              <a:t>Z-score</a:t>
            </a:r>
            <a:endParaRPr b="0" lang="fr-FR" sz="1050" strike="noStrike" u="none">
              <a:solidFill>
                <a:srgbClr val="000000"/>
              </a:solidFill>
              <a:effectLst/>
              <a:uFillTx/>
              <a:latin typeface="Arial"/>
            </a:endParaRPr>
          </a:p>
        </p:txBody>
      </p:sp>
      <p:sp>
        <p:nvSpPr>
          <p:cNvPr id="133" name="Shape 30"/>
          <p:cNvSpPr/>
          <p:nvPr/>
        </p:nvSpPr>
        <p:spPr>
          <a:xfrm>
            <a:off x="2039040" y="4763880"/>
            <a:ext cx="97848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34" name="Shape 31"/>
          <p:cNvSpPr/>
          <p:nvPr/>
        </p:nvSpPr>
        <p:spPr>
          <a:xfrm>
            <a:off x="3063240" y="4526280"/>
            <a:ext cx="1416960" cy="475200"/>
          </a:xfrm>
          <a:prstGeom prst="roundRect">
            <a:avLst>
              <a:gd name="adj" fmla="val 11538"/>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35" name="Text 32"/>
          <p:cNvSpPr/>
          <p:nvPr/>
        </p:nvSpPr>
        <p:spPr>
          <a:xfrm>
            <a:off x="3136320" y="4599360"/>
            <a:ext cx="127080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2e7d32"/>
                </a:solidFill>
                <a:effectLst/>
                <a:uFillTx/>
                <a:latin typeface="Aptos"/>
              </a:rPr>
              <a:t>Test z-score</a:t>
            </a:r>
            <a:endParaRPr b="0" lang="fr-FR" sz="1050" strike="noStrike" u="none">
              <a:solidFill>
                <a:srgbClr val="000000"/>
              </a:solidFill>
              <a:effectLst/>
              <a:uFillTx/>
              <a:latin typeface="Arial"/>
            </a:endParaRPr>
          </a:p>
        </p:txBody>
      </p:sp>
      <p:sp>
        <p:nvSpPr>
          <p:cNvPr id="136" name="Shape 33"/>
          <p:cNvSpPr/>
          <p:nvPr/>
        </p:nvSpPr>
        <p:spPr>
          <a:xfrm>
            <a:off x="4572000" y="4763880"/>
            <a:ext cx="868680" cy="360"/>
          </a:xfrm>
          <a:prstGeom prst="line">
            <a:avLst/>
          </a:prstGeom>
          <a:ln w="1397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37" name="Shape 34"/>
          <p:cNvSpPr/>
          <p:nvPr/>
        </p:nvSpPr>
        <p:spPr>
          <a:xfrm>
            <a:off x="5532120" y="4389120"/>
            <a:ext cx="1462680" cy="502560"/>
          </a:xfrm>
          <a:prstGeom prst="roundRect">
            <a:avLst>
              <a:gd name="adj" fmla="val 10909"/>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38" name="Text 35"/>
          <p:cNvSpPr/>
          <p:nvPr/>
        </p:nvSpPr>
        <p:spPr>
          <a:xfrm>
            <a:off x="5605200" y="4462200"/>
            <a:ext cx="131652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27c0e"/>
                </a:solidFill>
                <a:effectLst/>
                <a:uFillTx/>
                <a:latin typeface="Aptos"/>
              </a:rPr>
              <a:t>Rapport CA</a:t>
            </a:r>
            <a:endParaRPr b="0" lang="fr-FR" sz="1100" strike="noStrike" u="none">
              <a:solidFill>
                <a:srgbClr val="000000"/>
              </a:solidFill>
              <a:effectLst/>
              <a:uFillTx/>
              <a:latin typeface="Arial"/>
            </a:endParaRPr>
          </a:p>
        </p:txBody>
      </p:sp>
      <p:sp>
        <p:nvSpPr>
          <p:cNvPr id="139" name="Shape 36"/>
          <p:cNvSpPr/>
          <p:nvPr/>
        </p:nvSpPr>
        <p:spPr>
          <a:xfrm>
            <a:off x="7086600" y="4635720"/>
            <a:ext cx="822960" cy="360"/>
          </a:xfrm>
          <a:prstGeom prst="line">
            <a:avLst/>
          </a:prstGeom>
          <a:ln w="1397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40" name="Shape 37"/>
          <p:cNvSpPr/>
          <p:nvPr/>
        </p:nvSpPr>
        <p:spPr>
          <a:xfrm>
            <a:off x="8001000" y="4160520"/>
            <a:ext cx="1416960" cy="438480"/>
          </a:xfrm>
          <a:prstGeom prst="roundRect">
            <a:avLst>
              <a:gd name="adj" fmla="val 12500"/>
            </a:avLst>
          </a:prstGeom>
          <a:solidFill>
            <a:srgbClr val="f6f0ff"/>
          </a:solidFill>
          <a:ln w="12700">
            <a:solidFill>
              <a:srgbClr val="f6f0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41" name="Text 38"/>
          <p:cNvSpPr/>
          <p:nvPr/>
        </p:nvSpPr>
        <p:spPr>
          <a:xfrm>
            <a:off x="8074080" y="4233600"/>
            <a:ext cx="12708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6941c6"/>
                </a:solidFill>
                <a:effectLst/>
                <a:uFillTx/>
                <a:latin typeface="Aptos"/>
              </a:rPr>
              <a:t>Premium</a:t>
            </a:r>
            <a:endParaRPr b="0" lang="fr-FR" sz="1100" strike="noStrike" u="none">
              <a:solidFill>
                <a:srgbClr val="000000"/>
              </a:solidFill>
              <a:effectLst/>
              <a:uFillTx/>
              <a:latin typeface="Arial"/>
            </a:endParaRPr>
          </a:p>
        </p:txBody>
      </p:sp>
      <p:sp>
        <p:nvSpPr>
          <p:cNvPr id="142" name="Shape 39"/>
          <p:cNvSpPr/>
          <p:nvPr/>
        </p:nvSpPr>
        <p:spPr>
          <a:xfrm>
            <a:off x="8001000" y="4800600"/>
            <a:ext cx="1416960" cy="438480"/>
          </a:xfrm>
          <a:prstGeom prst="roundRect">
            <a:avLst>
              <a:gd name="adj" fmla="val 12500"/>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43" name="Text 40"/>
          <p:cNvSpPr/>
          <p:nvPr/>
        </p:nvSpPr>
        <p:spPr>
          <a:xfrm>
            <a:off x="8074080" y="4873680"/>
            <a:ext cx="12708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2e7d32"/>
                </a:solidFill>
                <a:effectLst/>
                <a:uFillTx/>
                <a:latin typeface="Aptos"/>
              </a:rPr>
              <a:t>Ordinaire</a:t>
            </a:r>
            <a:endParaRPr b="0" lang="fr-FR" sz="1100" strike="noStrike" u="none">
              <a:solidFill>
                <a:srgbClr val="000000"/>
              </a:solidFill>
              <a:effectLst/>
              <a:uFillTx/>
              <a:latin typeface="Arial"/>
            </a:endParaRPr>
          </a:p>
        </p:txBody>
      </p:sp>
      <p:sp>
        <p:nvSpPr>
          <p:cNvPr id="144" name="Shape 41"/>
          <p:cNvSpPr/>
          <p:nvPr/>
        </p:nvSpPr>
        <p:spPr>
          <a:xfrm>
            <a:off x="9784080" y="4160520"/>
            <a:ext cx="1462680" cy="438480"/>
          </a:xfrm>
          <a:prstGeom prst="roundRect">
            <a:avLst>
              <a:gd name="adj" fmla="val 12500"/>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45" name="Text 42"/>
          <p:cNvSpPr/>
          <p:nvPr/>
        </p:nvSpPr>
        <p:spPr>
          <a:xfrm>
            <a:off x="9857160" y="4233600"/>
            <a:ext cx="1316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f2937"/>
                </a:solidFill>
                <a:effectLst/>
                <a:uFillTx/>
                <a:latin typeface="Aptos"/>
              </a:rPr>
              <a:t>CSV + test</a:t>
            </a:r>
            <a:endParaRPr b="0" lang="fr-FR" sz="1050" strike="noStrike" u="none">
              <a:solidFill>
                <a:srgbClr val="000000"/>
              </a:solidFill>
              <a:effectLst/>
              <a:uFillTx/>
              <a:latin typeface="Arial"/>
            </a:endParaRPr>
          </a:p>
        </p:txBody>
      </p:sp>
      <p:sp>
        <p:nvSpPr>
          <p:cNvPr id="146" name="Shape 43"/>
          <p:cNvSpPr/>
          <p:nvPr/>
        </p:nvSpPr>
        <p:spPr>
          <a:xfrm>
            <a:off x="9784080" y="4800600"/>
            <a:ext cx="1462680" cy="438480"/>
          </a:xfrm>
          <a:prstGeom prst="roundRect">
            <a:avLst>
              <a:gd name="adj" fmla="val 12500"/>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47" name="Text 44"/>
          <p:cNvSpPr/>
          <p:nvPr/>
        </p:nvSpPr>
        <p:spPr>
          <a:xfrm>
            <a:off x="9857160" y="4873680"/>
            <a:ext cx="131652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f2937"/>
                </a:solidFill>
                <a:effectLst/>
                <a:uFillTx/>
                <a:latin typeface="Aptos"/>
              </a:rPr>
              <a:t>CSV + test</a:t>
            </a:r>
            <a:endParaRPr b="0" lang="fr-FR" sz="1050" strike="noStrike" u="none">
              <a:solidFill>
                <a:srgbClr val="000000"/>
              </a:solidFill>
              <a:effectLst/>
              <a:uFillTx/>
              <a:latin typeface="Arial"/>
            </a:endParaRPr>
          </a:p>
        </p:txBody>
      </p:sp>
      <p:sp>
        <p:nvSpPr>
          <p:cNvPr id="148" name="Shape 45"/>
          <p:cNvSpPr/>
          <p:nvPr/>
        </p:nvSpPr>
        <p:spPr>
          <a:xfrm>
            <a:off x="9509760" y="4379760"/>
            <a:ext cx="22860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49" name="Shape 46"/>
          <p:cNvSpPr/>
          <p:nvPr/>
        </p:nvSpPr>
        <p:spPr>
          <a:xfrm>
            <a:off x="9509760" y="5019840"/>
            <a:ext cx="22860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50" name="Shape 47"/>
          <p:cNvSpPr/>
          <p:nvPr/>
        </p:nvSpPr>
        <p:spPr>
          <a:xfrm>
            <a:off x="6400800" y="1234440"/>
            <a:ext cx="4708800" cy="310680"/>
          </a:xfrm>
          <a:prstGeom prst="roundRect">
            <a:avLst>
              <a:gd name="adj" fmla="val 50000"/>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51" name="Text 48"/>
          <p:cNvSpPr/>
          <p:nvPr/>
        </p:nvSpPr>
        <p:spPr>
          <a:xfrm>
            <a:off x="6473880" y="1307520"/>
            <a:ext cx="456264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ptos"/>
              </a:rPr>
              <a:t>Chaque test est bloquant : anomalie = tâche Failed</a:t>
            </a:r>
            <a:endParaRPr b="0" lang="fr-FR" sz="900" strike="noStrike" u="none">
              <a:solidFill>
                <a:srgbClr val="000000"/>
              </a:solidFill>
              <a:effectLst/>
              <a:uFillTx/>
              <a:latin typeface="Arial"/>
            </a:endParaRPr>
          </a:p>
        </p:txBody>
      </p:sp>
      <p:sp>
        <p:nvSpPr>
          <p:cNvPr id="152" name="Text 49"/>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4</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3"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54"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750" strike="noStrike" u="none">
                <a:solidFill>
                  <a:srgbClr val="667085"/>
                </a:solidFill>
                <a:effectLst/>
                <a:uFillTx/>
                <a:latin typeface="Aptos"/>
              </a:rPr>
              <a:t>VALIDATION</a:t>
            </a:r>
            <a:endParaRPr b="0" lang="fr-FR" sz="750" strike="noStrike" u="none">
              <a:solidFill>
                <a:srgbClr val="000000"/>
              </a:solidFill>
              <a:effectLst/>
              <a:uFillTx/>
              <a:latin typeface="Arial"/>
            </a:endParaRPr>
          </a:p>
        </p:txBody>
      </p:sp>
      <p:sp>
        <p:nvSpPr>
          <p:cNvPr id="155"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625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Contrôles qualité : les valeurs d’Octave sont retrouvées</a:t>
            </a:r>
            <a:endParaRPr b="0" lang="fr-FR" sz="2900" strike="noStrike" u="none">
              <a:solidFill>
                <a:srgbClr val="000000"/>
              </a:solidFill>
              <a:effectLst/>
              <a:uFillTx/>
              <a:latin typeface="Arial"/>
            </a:endParaRPr>
          </a:p>
        </p:txBody>
      </p:sp>
      <p:sp>
        <p:nvSpPr>
          <p:cNvPr id="156"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fontScale="85000" lnSpcReduction="9999"/>
          </a:bodyPr>
          <a:p>
            <a:pPr defTabSz="914400">
              <a:lnSpc>
                <a:spcPct val="100000"/>
              </a:lnSpc>
              <a:tabLst>
                <a:tab algn="l" pos="0"/>
              </a:tabLst>
            </a:pPr>
            <a:r>
              <a:rPr b="0" lang="en-US" sz="1150" strike="noStrike" u="none">
                <a:solidFill>
                  <a:srgbClr val="667085"/>
                </a:solidFill>
                <a:effectLst/>
                <a:uFillTx/>
                <a:latin typeface="Aptos"/>
              </a:rPr>
              <a:t>Les tests ne se contentent pas d’afficher : ils bloquent le pipeline si un chiffre diverge</a:t>
            </a:r>
            <a:endParaRPr b="0" lang="fr-FR" sz="1150" strike="noStrike" u="none">
              <a:solidFill>
                <a:srgbClr val="000000"/>
              </a:solidFill>
              <a:effectLst/>
              <a:uFillTx/>
              <a:latin typeface="Arial"/>
            </a:endParaRPr>
          </a:p>
        </p:txBody>
      </p:sp>
      <p:sp>
        <p:nvSpPr>
          <p:cNvPr id="157" name="Shape 4"/>
          <p:cNvSpPr/>
          <p:nvPr/>
        </p:nvSpPr>
        <p:spPr>
          <a:xfrm>
            <a:off x="822960" y="1234440"/>
            <a:ext cx="4205880" cy="383760"/>
          </a:xfrm>
          <a:prstGeom prst="roundRect">
            <a:avLst>
              <a:gd name="adj" fmla="val 14286"/>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58" name="Text 5"/>
          <p:cNvSpPr/>
          <p:nvPr/>
        </p:nvSpPr>
        <p:spPr>
          <a:xfrm>
            <a:off x="896040" y="1307520"/>
            <a:ext cx="40597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rPr>
              <a:t>Contrôle</a:t>
            </a:r>
            <a:endParaRPr b="0" lang="fr-FR" sz="1200" strike="noStrike" u="none">
              <a:solidFill>
                <a:srgbClr val="000000"/>
              </a:solidFill>
              <a:effectLst/>
              <a:uFillTx/>
              <a:latin typeface="Arial"/>
            </a:endParaRPr>
          </a:p>
        </p:txBody>
      </p:sp>
      <p:sp>
        <p:nvSpPr>
          <p:cNvPr id="159" name="Shape 6"/>
          <p:cNvSpPr/>
          <p:nvPr/>
        </p:nvSpPr>
        <p:spPr>
          <a:xfrm>
            <a:off x="5166360" y="1234440"/>
            <a:ext cx="1919880" cy="383760"/>
          </a:xfrm>
          <a:prstGeom prst="roundRect">
            <a:avLst>
              <a:gd name="adj" fmla="val 14286"/>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160" name="Text 7"/>
          <p:cNvSpPr/>
          <p:nvPr/>
        </p:nvSpPr>
        <p:spPr>
          <a:xfrm>
            <a:off x="5239440" y="1307520"/>
            <a:ext cx="17737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rPr>
              <a:t>Valeur</a:t>
            </a:r>
            <a:endParaRPr b="0" lang="fr-FR" sz="1200" strike="noStrike" u="none">
              <a:solidFill>
                <a:srgbClr val="000000"/>
              </a:solidFill>
              <a:effectLst/>
              <a:uFillTx/>
              <a:latin typeface="Arial"/>
            </a:endParaRPr>
          </a:p>
        </p:txBody>
      </p:sp>
      <p:sp>
        <p:nvSpPr>
          <p:cNvPr id="161" name="Shape 8"/>
          <p:cNvSpPr/>
          <p:nvPr/>
        </p:nvSpPr>
        <p:spPr>
          <a:xfrm>
            <a:off x="822960" y="1737360"/>
            <a:ext cx="4205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62" name="Text 9"/>
          <p:cNvSpPr/>
          <p:nvPr/>
        </p:nvSpPr>
        <p:spPr>
          <a:xfrm>
            <a:off x="896040" y="181044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ERP dédoublonné</a:t>
            </a:r>
            <a:endParaRPr b="0" lang="fr-FR" sz="1120" strike="noStrike" u="none">
              <a:solidFill>
                <a:srgbClr val="000000"/>
              </a:solidFill>
              <a:effectLst/>
              <a:uFillTx/>
              <a:latin typeface="Arial"/>
            </a:endParaRPr>
          </a:p>
        </p:txBody>
      </p:sp>
      <p:sp>
        <p:nvSpPr>
          <p:cNvPr id="163" name="Shape 10"/>
          <p:cNvSpPr/>
          <p:nvPr/>
        </p:nvSpPr>
        <p:spPr>
          <a:xfrm>
            <a:off x="5166360" y="1737360"/>
            <a:ext cx="1919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64" name="Text 11"/>
          <p:cNvSpPr/>
          <p:nvPr/>
        </p:nvSpPr>
        <p:spPr>
          <a:xfrm>
            <a:off x="5239440" y="181044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1f2937"/>
                </a:solidFill>
                <a:effectLst/>
                <a:uFillTx/>
                <a:latin typeface="Aptos"/>
              </a:rPr>
              <a:t>825</a:t>
            </a:r>
            <a:endParaRPr b="0" lang="fr-FR" sz="1120" strike="noStrike" u="none">
              <a:solidFill>
                <a:srgbClr val="000000"/>
              </a:solidFill>
              <a:effectLst/>
              <a:uFillTx/>
              <a:latin typeface="Arial"/>
            </a:endParaRPr>
          </a:p>
        </p:txBody>
      </p:sp>
      <p:sp>
        <p:nvSpPr>
          <p:cNvPr id="165" name="Shape 12"/>
          <p:cNvSpPr/>
          <p:nvPr/>
        </p:nvSpPr>
        <p:spPr>
          <a:xfrm>
            <a:off x="822960" y="2221920"/>
            <a:ext cx="4205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66" name="Text 13"/>
          <p:cNvSpPr/>
          <p:nvPr/>
        </p:nvSpPr>
        <p:spPr>
          <a:xfrm>
            <a:off x="896040" y="229500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Liaison dédoublonnée</a:t>
            </a:r>
            <a:endParaRPr b="0" lang="fr-FR" sz="1120" strike="noStrike" u="none">
              <a:solidFill>
                <a:srgbClr val="000000"/>
              </a:solidFill>
              <a:effectLst/>
              <a:uFillTx/>
              <a:latin typeface="Arial"/>
            </a:endParaRPr>
          </a:p>
        </p:txBody>
      </p:sp>
      <p:sp>
        <p:nvSpPr>
          <p:cNvPr id="167" name="Shape 14"/>
          <p:cNvSpPr/>
          <p:nvPr/>
        </p:nvSpPr>
        <p:spPr>
          <a:xfrm>
            <a:off x="5166360" y="2221920"/>
            <a:ext cx="1919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68" name="Text 15"/>
          <p:cNvSpPr/>
          <p:nvPr/>
        </p:nvSpPr>
        <p:spPr>
          <a:xfrm>
            <a:off x="5239440" y="229500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1f2937"/>
                </a:solidFill>
                <a:effectLst/>
                <a:uFillTx/>
                <a:latin typeface="Aptos"/>
              </a:rPr>
              <a:t>825</a:t>
            </a:r>
            <a:endParaRPr b="0" lang="fr-FR" sz="1120" strike="noStrike" u="none">
              <a:solidFill>
                <a:srgbClr val="000000"/>
              </a:solidFill>
              <a:effectLst/>
              <a:uFillTx/>
              <a:latin typeface="Arial"/>
            </a:endParaRPr>
          </a:p>
        </p:txBody>
      </p:sp>
      <p:sp>
        <p:nvSpPr>
          <p:cNvPr id="169" name="Shape 16"/>
          <p:cNvSpPr/>
          <p:nvPr/>
        </p:nvSpPr>
        <p:spPr>
          <a:xfrm>
            <a:off x="822960" y="2706480"/>
            <a:ext cx="4205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70" name="Text 17"/>
          <p:cNvSpPr/>
          <p:nvPr/>
        </p:nvSpPr>
        <p:spPr>
          <a:xfrm>
            <a:off x="896040" y="277992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Web nettoyé</a:t>
            </a:r>
            <a:endParaRPr b="0" lang="fr-FR" sz="1120" strike="noStrike" u="none">
              <a:solidFill>
                <a:srgbClr val="000000"/>
              </a:solidFill>
              <a:effectLst/>
              <a:uFillTx/>
              <a:latin typeface="Arial"/>
            </a:endParaRPr>
          </a:p>
        </p:txBody>
      </p:sp>
      <p:sp>
        <p:nvSpPr>
          <p:cNvPr id="171" name="Shape 18"/>
          <p:cNvSpPr/>
          <p:nvPr/>
        </p:nvSpPr>
        <p:spPr>
          <a:xfrm>
            <a:off x="5166360" y="2706480"/>
            <a:ext cx="1919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72" name="Text 19"/>
          <p:cNvSpPr/>
          <p:nvPr/>
        </p:nvSpPr>
        <p:spPr>
          <a:xfrm>
            <a:off x="5239440" y="277992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1f2937"/>
                </a:solidFill>
                <a:effectLst/>
                <a:uFillTx/>
                <a:latin typeface="Aptos"/>
              </a:rPr>
              <a:t>1 428</a:t>
            </a:r>
            <a:endParaRPr b="0" lang="fr-FR" sz="1120" strike="noStrike" u="none">
              <a:solidFill>
                <a:srgbClr val="000000"/>
              </a:solidFill>
              <a:effectLst/>
              <a:uFillTx/>
              <a:latin typeface="Arial"/>
            </a:endParaRPr>
          </a:p>
        </p:txBody>
      </p:sp>
      <p:sp>
        <p:nvSpPr>
          <p:cNvPr id="173" name="Shape 20"/>
          <p:cNvSpPr/>
          <p:nvPr/>
        </p:nvSpPr>
        <p:spPr>
          <a:xfrm>
            <a:off x="822960" y="3191400"/>
            <a:ext cx="4205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74" name="Text 21"/>
          <p:cNvSpPr/>
          <p:nvPr/>
        </p:nvSpPr>
        <p:spPr>
          <a:xfrm>
            <a:off x="896040" y="326448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Web dédoublonné</a:t>
            </a:r>
            <a:endParaRPr b="0" lang="fr-FR" sz="1120" strike="noStrike" u="none">
              <a:solidFill>
                <a:srgbClr val="000000"/>
              </a:solidFill>
              <a:effectLst/>
              <a:uFillTx/>
              <a:latin typeface="Arial"/>
            </a:endParaRPr>
          </a:p>
        </p:txBody>
      </p:sp>
      <p:sp>
        <p:nvSpPr>
          <p:cNvPr id="175" name="Shape 22"/>
          <p:cNvSpPr/>
          <p:nvPr/>
        </p:nvSpPr>
        <p:spPr>
          <a:xfrm>
            <a:off x="5166360" y="3191400"/>
            <a:ext cx="1919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76" name="Text 23"/>
          <p:cNvSpPr/>
          <p:nvPr/>
        </p:nvSpPr>
        <p:spPr>
          <a:xfrm>
            <a:off x="5239440" y="326448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1f2937"/>
                </a:solidFill>
                <a:effectLst/>
                <a:uFillTx/>
                <a:latin typeface="Aptos"/>
              </a:rPr>
              <a:t>714</a:t>
            </a:r>
            <a:endParaRPr b="0" lang="fr-FR" sz="1120" strike="noStrike" u="none">
              <a:solidFill>
                <a:srgbClr val="000000"/>
              </a:solidFill>
              <a:effectLst/>
              <a:uFillTx/>
              <a:latin typeface="Arial"/>
            </a:endParaRPr>
          </a:p>
        </p:txBody>
      </p:sp>
      <p:sp>
        <p:nvSpPr>
          <p:cNvPr id="177" name="Shape 24"/>
          <p:cNvSpPr/>
          <p:nvPr/>
        </p:nvSpPr>
        <p:spPr>
          <a:xfrm>
            <a:off x="822960" y="3675960"/>
            <a:ext cx="4205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78" name="Text 25"/>
          <p:cNvSpPr/>
          <p:nvPr/>
        </p:nvSpPr>
        <p:spPr>
          <a:xfrm>
            <a:off x="896040" y="374904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Fichier fusionné</a:t>
            </a:r>
            <a:endParaRPr b="0" lang="fr-FR" sz="1120" strike="noStrike" u="none">
              <a:solidFill>
                <a:srgbClr val="000000"/>
              </a:solidFill>
              <a:effectLst/>
              <a:uFillTx/>
              <a:latin typeface="Arial"/>
            </a:endParaRPr>
          </a:p>
        </p:txBody>
      </p:sp>
      <p:sp>
        <p:nvSpPr>
          <p:cNvPr id="179" name="Shape 26"/>
          <p:cNvSpPr/>
          <p:nvPr/>
        </p:nvSpPr>
        <p:spPr>
          <a:xfrm>
            <a:off x="5166360" y="3675960"/>
            <a:ext cx="1919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0" name="Text 27"/>
          <p:cNvSpPr/>
          <p:nvPr/>
        </p:nvSpPr>
        <p:spPr>
          <a:xfrm>
            <a:off x="5239440" y="374904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1f2937"/>
                </a:solidFill>
                <a:effectLst/>
                <a:uFillTx/>
                <a:latin typeface="Aptos"/>
              </a:rPr>
              <a:t>714</a:t>
            </a:r>
            <a:endParaRPr b="0" lang="fr-FR" sz="1120" strike="noStrike" u="none">
              <a:solidFill>
                <a:srgbClr val="000000"/>
              </a:solidFill>
              <a:effectLst/>
              <a:uFillTx/>
              <a:latin typeface="Arial"/>
            </a:endParaRPr>
          </a:p>
        </p:txBody>
      </p:sp>
      <p:sp>
        <p:nvSpPr>
          <p:cNvPr id="181" name="Shape 28"/>
          <p:cNvSpPr/>
          <p:nvPr/>
        </p:nvSpPr>
        <p:spPr>
          <a:xfrm>
            <a:off x="822960" y="4160520"/>
            <a:ext cx="4205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2" name="Text 29"/>
          <p:cNvSpPr/>
          <p:nvPr/>
        </p:nvSpPr>
        <p:spPr>
          <a:xfrm>
            <a:off x="896040" y="423360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CA total</a:t>
            </a:r>
            <a:endParaRPr b="0" lang="fr-FR" sz="1120" strike="noStrike" u="none">
              <a:solidFill>
                <a:srgbClr val="000000"/>
              </a:solidFill>
              <a:effectLst/>
              <a:uFillTx/>
              <a:latin typeface="Arial"/>
            </a:endParaRPr>
          </a:p>
        </p:txBody>
      </p:sp>
      <p:sp>
        <p:nvSpPr>
          <p:cNvPr id="183" name="Shape 30"/>
          <p:cNvSpPr/>
          <p:nvPr/>
        </p:nvSpPr>
        <p:spPr>
          <a:xfrm>
            <a:off x="5166360" y="4160520"/>
            <a:ext cx="1919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4" name="Text 31"/>
          <p:cNvSpPr/>
          <p:nvPr/>
        </p:nvSpPr>
        <p:spPr>
          <a:xfrm>
            <a:off x="5239440" y="423360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2e7d32"/>
                </a:solidFill>
                <a:effectLst/>
                <a:uFillTx/>
                <a:latin typeface="Aptos"/>
              </a:rPr>
              <a:t>70 568,60 €</a:t>
            </a:r>
            <a:endParaRPr b="0" lang="fr-FR" sz="1120" strike="noStrike" u="none">
              <a:solidFill>
                <a:srgbClr val="000000"/>
              </a:solidFill>
              <a:effectLst/>
              <a:uFillTx/>
              <a:latin typeface="Arial"/>
            </a:endParaRPr>
          </a:p>
        </p:txBody>
      </p:sp>
      <p:sp>
        <p:nvSpPr>
          <p:cNvPr id="185" name="Shape 32"/>
          <p:cNvSpPr/>
          <p:nvPr/>
        </p:nvSpPr>
        <p:spPr>
          <a:xfrm>
            <a:off x="822960" y="4645080"/>
            <a:ext cx="4205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6" name="Text 33"/>
          <p:cNvSpPr/>
          <p:nvPr/>
        </p:nvSpPr>
        <p:spPr>
          <a:xfrm>
            <a:off x="896040" y="471816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Vins premium</a:t>
            </a:r>
            <a:endParaRPr b="0" lang="fr-FR" sz="1120" strike="noStrike" u="none">
              <a:solidFill>
                <a:srgbClr val="000000"/>
              </a:solidFill>
              <a:effectLst/>
              <a:uFillTx/>
              <a:latin typeface="Arial"/>
            </a:endParaRPr>
          </a:p>
        </p:txBody>
      </p:sp>
      <p:sp>
        <p:nvSpPr>
          <p:cNvPr id="187" name="Shape 34"/>
          <p:cNvSpPr/>
          <p:nvPr/>
        </p:nvSpPr>
        <p:spPr>
          <a:xfrm>
            <a:off x="5166360" y="4645080"/>
            <a:ext cx="1919880" cy="347040"/>
          </a:xfrm>
          <a:prstGeom prst="roundRect">
            <a:avLst>
              <a:gd name="adj" fmla="val 15789"/>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88" name="Text 35"/>
          <p:cNvSpPr/>
          <p:nvPr/>
        </p:nvSpPr>
        <p:spPr>
          <a:xfrm>
            <a:off x="5239440" y="471816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2e7d32"/>
                </a:solidFill>
                <a:effectLst/>
                <a:uFillTx/>
                <a:latin typeface="Aptos"/>
              </a:rPr>
              <a:t>30</a:t>
            </a:r>
            <a:endParaRPr b="0" lang="fr-FR" sz="1120" strike="noStrike" u="none">
              <a:solidFill>
                <a:srgbClr val="000000"/>
              </a:solidFill>
              <a:effectLst/>
              <a:uFillTx/>
              <a:latin typeface="Arial"/>
            </a:endParaRPr>
          </a:p>
        </p:txBody>
      </p:sp>
      <p:sp>
        <p:nvSpPr>
          <p:cNvPr id="189" name="Shape 36"/>
          <p:cNvSpPr/>
          <p:nvPr/>
        </p:nvSpPr>
        <p:spPr>
          <a:xfrm>
            <a:off x="822960" y="5129640"/>
            <a:ext cx="4205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90" name="Text 37"/>
          <p:cNvSpPr/>
          <p:nvPr/>
        </p:nvSpPr>
        <p:spPr>
          <a:xfrm>
            <a:off x="896040" y="5203080"/>
            <a:ext cx="4059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20" strike="noStrike" u="none">
                <a:solidFill>
                  <a:srgbClr val="1f2937"/>
                </a:solidFill>
                <a:effectLst/>
                <a:uFillTx/>
                <a:latin typeface="Aptos"/>
              </a:rPr>
              <a:t>Vins ordinaires</a:t>
            </a:r>
            <a:endParaRPr b="0" lang="fr-FR" sz="1120" strike="noStrike" u="none">
              <a:solidFill>
                <a:srgbClr val="000000"/>
              </a:solidFill>
              <a:effectLst/>
              <a:uFillTx/>
              <a:latin typeface="Arial"/>
            </a:endParaRPr>
          </a:p>
        </p:txBody>
      </p:sp>
      <p:sp>
        <p:nvSpPr>
          <p:cNvPr id="191" name="Shape 38"/>
          <p:cNvSpPr/>
          <p:nvPr/>
        </p:nvSpPr>
        <p:spPr>
          <a:xfrm>
            <a:off x="5166360" y="5129640"/>
            <a:ext cx="1919880" cy="347040"/>
          </a:xfrm>
          <a:prstGeom prst="roundRect">
            <a:avLst>
              <a:gd name="adj" fmla="val 15789"/>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92" name="Text 39"/>
          <p:cNvSpPr/>
          <p:nvPr/>
        </p:nvSpPr>
        <p:spPr>
          <a:xfrm>
            <a:off x="5239440" y="5203080"/>
            <a:ext cx="1773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2e7d32"/>
                </a:solidFill>
                <a:effectLst/>
                <a:uFillTx/>
                <a:latin typeface="Aptos"/>
              </a:rPr>
              <a:t>684</a:t>
            </a:r>
            <a:endParaRPr b="0" lang="fr-FR" sz="1120" strike="noStrike" u="none">
              <a:solidFill>
                <a:srgbClr val="000000"/>
              </a:solidFill>
              <a:effectLst/>
              <a:uFillTx/>
              <a:latin typeface="Arial"/>
            </a:endParaRPr>
          </a:p>
        </p:txBody>
      </p:sp>
      <p:sp>
        <p:nvSpPr>
          <p:cNvPr id="193" name="Text 40"/>
          <p:cNvSpPr/>
          <p:nvPr/>
        </p:nvSpPr>
        <p:spPr>
          <a:xfrm>
            <a:off x="7818120" y="1325880"/>
            <a:ext cx="2834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5 familles de tests</a:t>
            </a:r>
            <a:endParaRPr b="0" lang="fr-FR" sz="1800" strike="noStrike" u="none">
              <a:solidFill>
                <a:srgbClr val="000000"/>
              </a:solidFill>
              <a:effectLst/>
              <a:uFillTx/>
              <a:latin typeface="Arial"/>
            </a:endParaRPr>
          </a:p>
        </p:txBody>
      </p:sp>
      <p:sp>
        <p:nvSpPr>
          <p:cNvPr id="194" name="Shape 41"/>
          <p:cNvSpPr/>
          <p:nvPr/>
        </p:nvSpPr>
        <p:spPr>
          <a:xfrm>
            <a:off x="7818120" y="1874520"/>
            <a:ext cx="2880000" cy="411120"/>
          </a:xfrm>
          <a:prstGeom prst="roundRect">
            <a:avLst>
              <a:gd name="adj" fmla="val 13333"/>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95" name="Text 42"/>
          <p:cNvSpPr/>
          <p:nvPr/>
        </p:nvSpPr>
        <p:spPr>
          <a:xfrm>
            <a:off x="7891200" y="1947600"/>
            <a:ext cx="27338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0e7c7b"/>
                </a:solidFill>
                <a:effectLst/>
                <a:uFillTx/>
                <a:latin typeface="Aptos"/>
              </a:rPr>
              <a:t>1. valeurs manquantes</a:t>
            </a:r>
            <a:endParaRPr b="0" lang="fr-FR" sz="1150" strike="noStrike" u="none">
              <a:solidFill>
                <a:srgbClr val="000000"/>
              </a:solidFill>
              <a:effectLst/>
              <a:uFillTx/>
              <a:latin typeface="Arial"/>
            </a:endParaRPr>
          </a:p>
        </p:txBody>
      </p:sp>
      <p:sp>
        <p:nvSpPr>
          <p:cNvPr id="196" name="Shape 43"/>
          <p:cNvSpPr/>
          <p:nvPr/>
        </p:nvSpPr>
        <p:spPr>
          <a:xfrm>
            <a:off x="7818120" y="2496240"/>
            <a:ext cx="2880000" cy="411120"/>
          </a:xfrm>
          <a:prstGeom prst="roundRect">
            <a:avLst>
              <a:gd name="adj" fmla="val 13333"/>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97" name="Text 44"/>
          <p:cNvSpPr/>
          <p:nvPr/>
        </p:nvSpPr>
        <p:spPr>
          <a:xfrm>
            <a:off x="7891200" y="2569320"/>
            <a:ext cx="27338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0e7c7b"/>
                </a:solidFill>
                <a:effectLst/>
                <a:uFillTx/>
                <a:latin typeface="Aptos"/>
              </a:rPr>
              <a:t>2. doublons</a:t>
            </a:r>
            <a:endParaRPr b="0" lang="fr-FR" sz="1150" strike="noStrike" u="none">
              <a:solidFill>
                <a:srgbClr val="000000"/>
              </a:solidFill>
              <a:effectLst/>
              <a:uFillTx/>
              <a:latin typeface="Arial"/>
            </a:endParaRPr>
          </a:p>
        </p:txBody>
      </p:sp>
      <p:sp>
        <p:nvSpPr>
          <p:cNvPr id="198" name="Shape 45"/>
          <p:cNvSpPr/>
          <p:nvPr/>
        </p:nvSpPr>
        <p:spPr>
          <a:xfrm>
            <a:off x="7818120" y="3117960"/>
            <a:ext cx="2880000" cy="411120"/>
          </a:xfrm>
          <a:prstGeom prst="roundRect">
            <a:avLst>
              <a:gd name="adj" fmla="val 13333"/>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99" name="Text 46"/>
          <p:cNvSpPr/>
          <p:nvPr/>
        </p:nvSpPr>
        <p:spPr>
          <a:xfrm>
            <a:off x="7891200" y="3191400"/>
            <a:ext cx="27338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0e7c7b"/>
                </a:solidFill>
                <a:effectLst/>
                <a:uFillTx/>
                <a:latin typeface="Aptos"/>
              </a:rPr>
              <a:t>3. jointures</a:t>
            </a:r>
            <a:endParaRPr b="0" lang="fr-FR" sz="1150" strike="noStrike" u="none">
              <a:solidFill>
                <a:srgbClr val="000000"/>
              </a:solidFill>
              <a:effectLst/>
              <a:uFillTx/>
              <a:latin typeface="Arial"/>
            </a:endParaRPr>
          </a:p>
        </p:txBody>
      </p:sp>
      <p:sp>
        <p:nvSpPr>
          <p:cNvPr id="200" name="Shape 47"/>
          <p:cNvSpPr/>
          <p:nvPr/>
        </p:nvSpPr>
        <p:spPr>
          <a:xfrm>
            <a:off x="7818120" y="3740040"/>
            <a:ext cx="2880000" cy="411120"/>
          </a:xfrm>
          <a:prstGeom prst="roundRect">
            <a:avLst>
              <a:gd name="adj" fmla="val 13333"/>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01" name="Text 48"/>
          <p:cNvSpPr/>
          <p:nvPr/>
        </p:nvSpPr>
        <p:spPr>
          <a:xfrm>
            <a:off x="7891200" y="3813120"/>
            <a:ext cx="27338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c27c0e"/>
                </a:solidFill>
                <a:effectLst/>
                <a:uFillTx/>
                <a:latin typeface="Aptos"/>
              </a:rPr>
              <a:t>4. chiffre d’affaires</a:t>
            </a:r>
            <a:endParaRPr b="0" lang="fr-FR" sz="1150" strike="noStrike" u="none">
              <a:solidFill>
                <a:srgbClr val="000000"/>
              </a:solidFill>
              <a:effectLst/>
              <a:uFillTx/>
              <a:latin typeface="Arial"/>
            </a:endParaRPr>
          </a:p>
        </p:txBody>
      </p:sp>
      <p:sp>
        <p:nvSpPr>
          <p:cNvPr id="202" name="Shape 49"/>
          <p:cNvSpPr/>
          <p:nvPr/>
        </p:nvSpPr>
        <p:spPr>
          <a:xfrm>
            <a:off x="7818120" y="4361760"/>
            <a:ext cx="2880000" cy="411120"/>
          </a:xfrm>
          <a:prstGeom prst="roundRect">
            <a:avLst>
              <a:gd name="adj" fmla="val 13333"/>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03" name="Text 50"/>
          <p:cNvSpPr/>
          <p:nvPr/>
        </p:nvSpPr>
        <p:spPr>
          <a:xfrm>
            <a:off x="7891200" y="4434840"/>
            <a:ext cx="27338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0e7c7b"/>
                </a:solidFill>
                <a:effectLst/>
                <a:uFillTx/>
                <a:latin typeface="Aptos"/>
              </a:rPr>
              <a:t>5. z-score</a:t>
            </a:r>
            <a:endParaRPr b="0" lang="fr-FR" sz="1150" strike="noStrike" u="none">
              <a:solidFill>
                <a:srgbClr val="000000"/>
              </a:solidFill>
              <a:effectLst/>
              <a:uFillTx/>
              <a:latin typeface="Arial"/>
            </a:endParaRPr>
          </a:p>
        </p:txBody>
      </p:sp>
      <p:sp>
        <p:nvSpPr>
          <p:cNvPr id="204" name="Text 51"/>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5</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5"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06"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750" strike="noStrike" u="none">
                <a:solidFill>
                  <a:srgbClr val="667085"/>
                </a:solidFill>
                <a:effectLst/>
                <a:uFillTx/>
                <a:latin typeface="Aptos"/>
              </a:rPr>
              <a:t>BRANCHES</a:t>
            </a:r>
            <a:endParaRPr b="0" lang="fr-FR" sz="750" strike="noStrike" u="none">
              <a:solidFill>
                <a:srgbClr val="000000"/>
              </a:solidFill>
              <a:effectLst/>
              <a:uFillTx/>
              <a:latin typeface="Arial"/>
            </a:endParaRPr>
          </a:p>
        </p:txBody>
      </p:sp>
      <p:sp>
        <p:nvSpPr>
          <p:cNvPr id="207"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550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Branches Premium / Ordinaire : séparation réelle dans Kestra</a:t>
            </a:r>
            <a:endParaRPr b="0" lang="fr-FR" sz="2900" strike="noStrike" u="none">
              <a:solidFill>
                <a:srgbClr val="000000"/>
              </a:solidFill>
              <a:effectLst/>
              <a:uFillTx/>
              <a:latin typeface="Arial"/>
            </a:endParaRPr>
          </a:p>
        </p:txBody>
      </p:sp>
      <p:sp>
        <p:nvSpPr>
          <p:cNvPr id="208"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50" strike="noStrike" u="none">
                <a:solidFill>
                  <a:srgbClr val="667085"/>
                </a:solidFill>
                <a:effectLst/>
                <a:uFillTx/>
                <a:latin typeface="Aptos"/>
              </a:rPr>
              <a:t>Les deux exports métiers sont orchestrés indépendamment avec Parallel</a:t>
            </a:r>
            <a:endParaRPr b="0" lang="fr-FR" sz="1150" strike="noStrike" u="none">
              <a:solidFill>
                <a:srgbClr val="000000"/>
              </a:solidFill>
              <a:effectLst/>
              <a:uFillTx/>
              <a:latin typeface="Arial"/>
            </a:endParaRPr>
          </a:p>
        </p:txBody>
      </p:sp>
      <p:sp>
        <p:nvSpPr>
          <p:cNvPr id="209" name="Shape 4"/>
          <p:cNvSpPr/>
          <p:nvPr/>
        </p:nvSpPr>
        <p:spPr>
          <a:xfrm>
            <a:off x="868680" y="1234440"/>
            <a:ext cx="1919880" cy="594000"/>
          </a:xfrm>
          <a:prstGeom prst="roundRect">
            <a:avLst>
              <a:gd name="adj" fmla="val 9231"/>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10" name="Text 5"/>
          <p:cNvSpPr/>
          <p:nvPr/>
        </p:nvSpPr>
        <p:spPr>
          <a:xfrm>
            <a:off x="941760" y="1307520"/>
            <a:ext cx="177372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12355b"/>
                </a:solidFill>
                <a:effectLst/>
                <a:uFillTx/>
                <a:latin typeface="Aptos"/>
              </a:rPr>
              <a:t>vins_classes</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12355b"/>
                </a:solidFill>
                <a:effectLst/>
                <a:uFillTx/>
                <a:latin typeface="Aptos"/>
              </a:rPr>
              <a:t>714 lignes</a:t>
            </a:r>
            <a:endParaRPr b="0" lang="fr-FR" sz="1200" strike="noStrike" u="none">
              <a:solidFill>
                <a:srgbClr val="000000"/>
              </a:solidFill>
              <a:effectLst/>
              <a:uFillTx/>
              <a:latin typeface="Arial"/>
            </a:endParaRPr>
          </a:p>
        </p:txBody>
      </p:sp>
      <p:sp>
        <p:nvSpPr>
          <p:cNvPr id="211" name="Shape 6"/>
          <p:cNvSpPr/>
          <p:nvPr/>
        </p:nvSpPr>
        <p:spPr>
          <a:xfrm>
            <a:off x="2834640" y="1526760"/>
            <a:ext cx="82296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12" name="Shape 7"/>
          <p:cNvSpPr/>
          <p:nvPr/>
        </p:nvSpPr>
        <p:spPr>
          <a:xfrm>
            <a:off x="3703320" y="1234440"/>
            <a:ext cx="1919880" cy="594000"/>
          </a:xfrm>
          <a:prstGeom prst="roundRect">
            <a:avLst>
              <a:gd name="adj" fmla="val 9231"/>
            </a:avLst>
          </a:prstGeom>
          <a:solidFill>
            <a:srgbClr val="ede9fe"/>
          </a:solidFill>
          <a:ln w="12700">
            <a:solidFill>
              <a:srgbClr val="ede9fe">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13" name="Text 8"/>
          <p:cNvSpPr/>
          <p:nvPr/>
        </p:nvSpPr>
        <p:spPr>
          <a:xfrm>
            <a:off x="3776400" y="1307520"/>
            <a:ext cx="177372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6941c6"/>
                </a:solidFill>
                <a:effectLst/>
                <a:uFillTx/>
                <a:latin typeface="Aptos"/>
              </a:rPr>
              <a:t>category_exports</a:t>
            </a:r>
            <a:endParaRPr b="0" lang="fr-FR" sz="1200" strike="noStrike" u="none">
              <a:solidFill>
                <a:srgbClr val="000000"/>
              </a:solidFill>
              <a:effectLst/>
              <a:uFillTx/>
              <a:latin typeface="Arial"/>
            </a:endParaRPr>
          </a:p>
          <a:p>
            <a:pPr algn="ctr" defTabSz="914400">
              <a:lnSpc>
                <a:spcPct val="100000"/>
              </a:lnSpc>
              <a:tabLst>
                <a:tab algn="l" pos="0"/>
              </a:tabLst>
            </a:pPr>
            <a:r>
              <a:rPr b="1" lang="en-US" sz="1200" strike="noStrike" u="none">
                <a:solidFill>
                  <a:srgbClr val="6941c6"/>
                </a:solidFill>
                <a:effectLst/>
                <a:uFillTx/>
                <a:latin typeface="Aptos"/>
              </a:rPr>
              <a:t>Parallel</a:t>
            </a:r>
            <a:endParaRPr b="0" lang="fr-FR" sz="1200" strike="noStrike" u="none">
              <a:solidFill>
                <a:srgbClr val="000000"/>
              </a:solidFill>
              <a:effectLst/>
              <a:uFillTx/>
              <a:latin typeface="Arial"/>
            </a:endParaRPr>
          </a:p>
        </p:txBody>
      </p:sp>
      <p:sp>
        <p:nvSpPr>
          <p:cNvPr id="214" name="Shape 9"/>
          <p:cNvSpPr/>
          <p:nvPr/>
        </p:nvSpPr>
        <p:spPr>
          <a:xfrm flipV="1">
            <a:off x="5650920" y="1463040"/>
            <a:ext cx="749880" cy="255960"/>
          </a:xfrm>
          <a:prstGeom prst="line">
            <a:avLst/>
          </a:prstGeom>
          <a:ln w="13970">
            <a:solidFill>
              <a:srgbClr val="667085"/>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215" name="Shape 10"/>
          <p:cNvSpPr/>
          <p:nvPr/>
        </p:nvSpPr>
        <p:spPr>
          <a:xfrm>
            <a:off x="5650920" y="1901880"/>
            <a:ext cx="749880" cy="795600"/>
          </a:xfrm>
          <a:prstGeom prst="line">
            <a:avLst/>
          </a:prstGeom>
          <a:ln w="13970">
            <a:solidFill>
              <a:srgbClr val="667085"/>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216" name="Shape 11"/>
          <p:cNvSpPr/>
          <p:nvPr/>
        </p:nvSpPr>
        <p:spPr>
          <a:xfrm>
            <a:off x="6446520" y="1234440"/>
            <a:ext cx="1874160" cy="529920"/>
          </a:xfrm>
          <a:prstGeom prst="roundRect">
            <a:avLst>
              <a:gd name="adj" fmla="val 10345"/>
            </a:avLst>
          </a:prstGeom>
          <a:solidFill>
            <a:srgbClr val="f6f0ff"/>
          </a:solidFill>
          <a:ln w="12700">
            <a:solidFill>
              <a:srgbClr val="f6f0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17" name="Text 12"/>
          <p:cNvSpPr/>
          <p:nvPr/>
        </p:nvSpPr>
        <p:spPr>
          <a:xfrm>
            <a:off x="6519600" y="1307520"/>
            <a:ext cx="172800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6941c6"/>
                </a:solidFill>
                <a:effectLst/>
                <a:uFillTx/>
                <a:latin typeface="Aptos"/>
              </a:rPr>
              <a:t>premium_branch</a:t>
            </a:r>
            <a:endParaRPr b="0" lang="fr-FR" sz="1150" strike="noStrike" u="none">
              <a:solidFill>
                <a:srgbClr val="000000"/>
              </a:solidFill>
              <a:effectLst/>
              <a:uFillTx/>
              <a:latin typeface="Arial"/>
            </a:endParaRPr>
          </a:p>
        </p:txBody>
      </p:sp>
      <p:sp>
        <p:nvSpPr>
          <p:cNvPr id="218" name="Shape 13"/>
          <p:cNvSpPr/>
          <p:nvPr/>
        </p:nvSpPr>
        <p:spPr>
          <a:xfrm>
            <a:off x="6446520" y="2468880"/>
            <a:ext cx="1874160" cy="529920"/>
          </a:xfrm>
          <a:prstGeom prst="roundRect">
            <a:avLst>
              <a:gd name="adj" fmla="val 10345"/>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19" name="Text 14"/>
          <p:cNvSpPr/>
          <p:nvPr/>
        </p:nvSpPr>
        <p:spPr>
          <a:xfrm>
            <a:off x="6519600" y="2541960"/>
            <a:ext cx="172800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2e7d32"/>
                </a:solidFill>
                <a:effectLst/>
                <a:uFillTx/>
                <a:latin typeface="Aptos"/>
              </a:rPr>
              <a:t>ordinary_branch</a:t>
            </a:r>
            <a:endParaRPr b="0" lang="fr-FR" sz="1150" strike="noStrike" u="none">
              <a:solidFill>
                <a:srgbClr val="000000"/>
              </a:solidFill>
              <a:effectLst/>
              <a:uFillTx/>
              <a:latin typeface="Arial"/>
            </a:endParaRPr>
          </a:p>
        </p:txBody>
      </p:sp>
      <p:sp>
        <p:nvSpPr>
          <p:cNvPr id="220" name="Shape 15"/>
          <p:cNvSpPr/>
          <p:nvPr/>
        </p:nvSpPr>
        <p:spPr>
          <a:xfrm>
            <a:off x="8357400" y="1499400"/>
            <a:ext cx="78660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21" name="Shape 16"/>
          <p:cNvSpPr/>
          <p:nvPr/>
        </p:nvSpPr>
        <p:spPr>
          <a:xfrm>
            <a:off x="8357400" y="2733840"/>
            <a:ext cx="786600" cy="360"/>
          </a:xfrm>
          <a:prstGeom prst="line">
            <a:avLst/>
          </a:prstGeom>
          <a:ln w="12700">
            <a:solidFill>
              <a:srgbClr val="d0d5dd"/>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22" name="Shape 17"/>
          <p:cNvSpPr/>
          <p:nvPr/>
        </p:nvSpPr>
        <p:spPr>
          <a:xfrm>
            <a:off x="9189720" y="1234440"/>
            <a:ext cx="1828440" cy="529920"/>
          </a:xfrm>
          <a:prstGeom prst="roundRect">
            <a:avLst>
              <a:gd name="adj" fmla="val 10345"/>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23" name="Text 18"/>
          <p:cNvSpPr/>
          <p:nvPr/>
        </p:nvSpPr>
        <p:spPr>
          <a:xfrm>
            <a:off x="9262800" y="1307520"/>
            <a:ext cx="168228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6941c6"/>
                </a:solidFill>
                <a:effectLst/>
                <a:uFillTx/>
                <a:latin typeface="Aptos"/>
              </a:rPr>
              <a:t>premium.csv</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6941c6"/>
                </a:solidFill>
                <a:effectLst/>
                <a:uFillTx/>
                <a:latin typeface="Aptos"/>
              </a:rPr>
              <a:t>30</a:t>
            </a:r>
            <a:endParaRPr b="0" lang="fr-FR" sz="1150" strike="noStrike" u="none">
              <a:solidFill>
                <a:srgbClr val="000000"/>
              </a:solidFill>
              <a:effectLst/>
              <a:uFillTx/>
              <a:latin typeface="Arial"/>
            </a:endParaRPr>
          </a:p>
        </p:txBody>
      </p:sp>
      <p:sp>
        <p:nvSpPr>
          <p:cNvPr id="224" name="Shape 19"/>
          <p:cNvSpPr/>
          <p:nvPr/>
        </p:nvSpPr>
        <p:spPr>
          <a:xfrm>
            <a:off x="9189720" y="2468880"/>
            <a:ext cx="1828440" cy="529920"/>
          </a:xfrm>
          <a:prstGeom prst="roundRect">
            <a:avLst>
              <a:gd name="adj" fmla="val 10345"/>
            </a:avLst>
          </a:prstGeom>
          <a:solidFill>
            <a:srgbClr val="ffffff"/>
          </a:solidFill>
          <a:ln w="12700">
            <a:solidFill>
              <a:srgbClr val="ffff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25" name="Text 20"/>
          <p:cNvSpPr/>
          <p:nvPr/>
        </p:nvSpPr>
        <p:spPr>
          <a:xfrm>
            <a:off x="9262800" y="2541960"/>
            <a:ext cx="168228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2e7d32"/>
                </a:solidFill>
                <a:effectLst/>
                <a:uFillTx/>
                <a:latin typeface="Aptos"/>
              </a:rPr>
              <a:t>ordinaires.csv</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2e7d32"/>
                </a:solidFill>
                <a:effectLst/>
                <a:uFillTx/>
                <a:latin typeface="Aptos"/>
              </a:rPr>
              <a:t>684</a:t>
            </a:r>
            <a:endParaRPr b="0" lang="fr-FR" sz="1150" strike="noStrike" u="none">
              <a:solidFill>
                <a:srgbClr val="000000"/>
              </a:solidFill>
              <a:effectLst/>
              <a:uFillTx/>
              <a:latin typeface="Arial"/>
            </a:endParaRPr>
          </a:p>
        </p:txBody>
      </p:sp>
      <p:sp>
        <p:nvSpPr>
          <p:cNvPr id="226" name="Text 21"/>
          <p:cNvSpPr/>
          <p:nvPr/>
        </p:nvSpPr>
        <p:spPr>
          <a:xfrm>
            <a:off x="914400" y="3429000"/>
            <a:ext cx="3200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Ce que ça apporte</a:t>
            </a:r>
            <a:endParaRPr b="0" lang="fr-FR" sz="1800" strike="noStrike" u="none">
              <a:solidFill>
                <a:srgbClr val="000000"/>
              </a:solidFill>
              <a:effectLst/>
              <a:uFillTx/>
              <a:latin typeface="Arial"/>
            </a:endParaRPr>
          </a:p>
        </p:txBody>
      </p:sp>
      <p:sp>
        <p:nvSpPr>
          <p:cNvPr id="227" name="Shape 22"/>
          <p:cNvSpPr/>
          <p:nvPr/>
        </p:nvSpPr>
        <p:spPr>
          <a:xfrm>
            <a:off x="960120" y="390456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28" name="Text 23"/>
          <p:cNvSpPr/>
          <p:nvPr/>
        </p:nvSpPr>
        <p:spPr>
          <a:xfrm>
            <a:off x="1124640" y="384048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séparation claire des deux livrables</a:t>
            </a:r>
            <a:endParaRPr b="0" lang="fr-FR" sz="1500" strike="noStrike" u="none">
              <a:solidFill>
                <a:srgbClr val="000000"/>
              </a:solidFill>
              <a:effectLst/>
              <a:uFillTx/>
              <a:latin typeface="Arial"/>
            </a:endParaRPr>
          </a:p>
        </p:txBody>
      </p:sp>
      <p:sp>
        <p:nvSpPr>
          <p:cNvPr id="229" name="Shape 24"/>
          <p:cNvSpPr/>
          <p:nvPr/>
        </p:nvSpPr>
        <p:spPr>
          <a:xfrm>
            <a:off x="960120" y="436176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30" name="Text 25"/>
          <p:cNvSpPr/>
          <p:nvPr/>
        </p:nvSpPr>
        <p:spPr>
          <a:xfrm>
            <a:off x="1124640" y="429768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tests dédiés à chaque export</a:t>
            </a:r>
            <a:endParaRPr b="0" lang="fr-FR" sz="1500" strike="noStrike" u="none">
              <a:solidFill>
                <a:srgbClr val="000000"/>
              </a:solidFill>
              <a:effectLst/>
              <a:uFillTx/>
              <a:latin typeface="Arial"/>
            </a:endParaRPr>
          </a:p>
        </p:txBody>
      </p:sp>
      <p:sp>
        <p:nvSpPr>
          <p:cNvPr id="231" name="Shape 26"/>
          <p:cNvSpPr/>
          <p:nvPr/>
        </p:nvSpPr>
        <p:spPr>
          <a:xfrm>
            <a:off x="960120" y="481896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32" name="Text 27"/>
          <p:cNvSpPr/>
          <p:nvPr/>
        </p:nvSpPr>
        <p:spPr>
          <a:xfrm>
            <a:off x="1124640" y="475488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1f2937"/>
                </a:solidFill>
                <a:effectLst/>
                <a:uFillTx/>
                <a:latin typeface="Aptos"/>
              </a:rPr>
              <a:t>architecture extensible et lisible</a:t>
            </a:r>
            <a:endParaRPr b="0" lang="fr-FR" sz="1500" strike="noStrike" u="none">
              <a:solidFill>
                <a:srgbClr val="000000"/>
              </a:solidFill>
              <a:effectLst/>
              <a:uFillTx/>
              <a:latin typeface="Arial"/>
            </a:endParaRPr>
          </a:p>
        </p:txBody>
      </p:sp>
      <p:sp>
        <p:nvSpPr>
          <p:cNvPr id="233" name="Text 28"/>
          <p:cNvSpPr/>
          <p:nvPr/>
        </p:nvSpPr>
        <p:spPr>
          <a:xfrm>
            <a:off x="6400800" y="3429000"/>
            <a:ext cx="3200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Scripts clés</a:t>
            </a:r>
            <a:endParaRPr b="0" lang="fr-FR" sz="1800" strike="noStrike" u="none">
              <a:solidFill>
                <a:srgbClr val="000000"/>
              </a:solidFill>
              <a:effectLst/>
              <a:uFillTx/>
              <a:latin typeface="Arial"/>
            </a:endParaRPr>
          </a:p>
        </p:txBody>
      </p:sp>
      <p:sp>
        <p:nvSpPr>
          <p:cNvPr id="234" name="Shape 29"/>
          <p:cNvSpPr/>
          <p:nvPr/>
        </p:nvSpPr>
        <p:spPr>
          <a:xfrm>
            <a:off x="6446520" y="3840480"/>
            <a:ext cx="3337200" cy="411120"/>
          </a:xfrm>
          <a:prstGeom prst="roundRect">
            <a:avLst>
              <a:gd name="adj" fmla="val 13333"/>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35" name="Text 30"/>
          <p:cNvSpPr/>
          <p:nvPr/>
        </p:nvSpPr>
        <p:spPr>
          <a:xfrm>
            <a:off x="6519600" y="3913560"/>
            <a:ext cx="3191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f2937"/>
                </a:solidFill>
                <a:effectLst/>
                <a:uFillTx/>
                <a:latin typeface="Aptos"/>
              </a:rPr>
              <a:t>export_wine_category.py</a:t>
            </a:r>
            <a:endParaRPr b="0" lang="fr-FR" sz="1100" strike="noStrike" u="none">
              <a:solidFill>
                <a:srgbClr val="000000"/>
              </a:solidFill>
              <a:effectLst/>
              <a:uFillTx/>
              <a:latin typeface="Arial"/>
            </a:endParaRPr>
          </a:p>
        </p:txBody>
      </p:sp>
      <p:sp>
        <p:nvSpPr>
          <p:cNvPr id="236" name="Shape 31"/>
          <p:cNvSpPr/>
          <p:nvPr/>
        </p:nvSpPr>
        <p:spPr>
          <a:xfrm>
            <a:off x="6446520" y="4434840"/>
            <a:ext cx="3337200" cy="411120"/>
          </a:xfrm>
          <a:prstGeom prst="roundRect">
            <a:avLst>
              <a:gd name="adj" fmla="val 13333"/>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37" name="Text 32"/>
          <p:cNvSpPr/>
          <p:nvPr/>
        </p:nvSpPr>
        <p:spPr>
          <a:xfrm>
            <a:off x="6519600" y="4507920"/>
            <a:ext cx="31910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f2937"/>
                </a:solidFill>
                <a:effectLst/>
                <a:uFillTx/>
                <a:latin typeface="Aptos"/>
              </a:rPr>
              <a:t>check_wine_category_export.py</a:t>
            </a:r>
            <a:endParaRPr b="0" lang="fr-FR" sz="1100" strike="noStrike" u="none">
              <a:solidFill>
                <a:srgbClr val="000000"/>
              </a:solidFill>
              <a:effectLst/>
              <a:uFillTx/>
              <a:latin typeface="Arial"/>
            </a:endParaRPr>
          </a:p>
        </p:txBody>
      </p:sp>
      <p:sp>
        <p:nvSpPr>
          <p:cNvPr id="238" name="Text 33"/>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6</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40"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750" strike="noStrike" u="none">
                <a:solidFill>
                  <a:srgbClr val="667085"/>
                </a:solidFill>
                <a:effectLst/>
                <a:uFillTx/>
                <a:latin typeface="Aptos"/>
              </a:rPr>
              <a:t>ROBUSTESSE</a:t>
            </a:r>
            <a:endParaRPr b="0" lang="fr-FR" sz="750" strike="noStrike" u="none">
              <a:solidFill>
                <a:srgbClr val="000000"/>
              </a:solidFill>
              <a:effectLst/>
              <a:uFillTx/>
              <a:latin typeface="Arial"/>
            </a:endParaRPr>
          </a:p>
        </p:txBody>
      </p:sp>
      <p:sp>
        <p:nvSpPr>
          <p:cNvPr id="241"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475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Gestion des erreurs : retries pour l’instable, échec direct pour l’anomalie métier</a:t>
            </a:r>
            <a:endParaRPr b="0" lang="fr-FR" sz="2900" strike="noStrike" u="none">
              <a:solidFill>
                <a:srgbClr val="000000"/>
              </a:solidFill>
              <a:effectLst/>
              <a:uFillTx/>
              <a:latin typeface="Arial"/>
            </a:endParaRPr>
          </a:p>
        </p:txBody>
      </p:sp>
      <p:sp>
        <p:nvSpPr>
          <p:cNvPr id="242"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fontScale="85000" lnSpcReduction="19999"/>
          </a:bodyPr>
          <a:p>
            <a:pPr defTabSz="914400">
              <a:lnSpc>
                <a:spcPct val="100000"/>
              </a:lnSpc>
              <a:tabLst>
                <a:tab algn="l" pos="0"/>
              </a:tabLst>
            </a:pPr>
            <a:r>
              <a:rPr b="0" lang="en-US" sz="1150" strike="noStrike" u="none">
                <a:solidFill>
                  <a:srgbClr val="667085"/>
                </a:solidFill>
                <a:effectLst/>
                <a:uFillTx/>
                <a:latin typeface="Aptos"/>
              </a:rPr>
              <a:t>Le pipeline distingue les erreurs techniques temporaires et les erreurs de qualité de données</a:t>
            </a:r>
            <a:endParaRPr b="0" lang="fr-FR" sz="1150" strike="noStrike" u="none">
              <a:solidFill>
                <a:srgbClr val="000000"/>
              </a:solidFill>
              <a:effectLst/>
              <a:uFillTx/>
              <a:latin typeface="Arial"/>
            </a:endParaRPr>
          </a:p>
        </p:txBody>
      </p:sp>
      <p:sp>
        <p:nvSpPr>
          <p:cNvPr id="243" name="Shape 4"/>
          <p:cNvSpPr/>
          <p:nvPr/>
        </p:nvSpPr>
        <p:spPr>
          <a:xfrm>
            <a:off x="960120" y="1325880"/>
            <a:ext cx="2057040" cy="594000"/>
          </a:xfrm>
          <a:prstGeom prst="roundRect">
            <a:avLst>
              <a:gd name="adj" fmla="val 9231"/>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44" name="Text 5"/>
          <p:cNvSpPr/>
          <p:nvPr/>
        </p:nvSpPr>
        <p:spPr>
          <a:xfrm>
            <a:off x="1033200" y="1398960"/>
            <a:ext cx="1910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2355b"/>
                </a:solidFill>
                <a:effectLst/>
                <a:uFillTx/>
                <a:latin typeface="Aptos"/>
              </a:rPr>
              <a:t>Tâche de traitement</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12355b"/>
                </a:solidFill>
                <a:effectLst/>
                <a:uFillTx/>
                <a:latin typeface="Aptos"/>
              </a:rPr>
              <a:t>ex. Git, SQL, export</a:t>
            </a:r>
            <a:endParaRPr b="0" lang="fr-FR" sz="1150" strike="noStrike" u="none">
              <a:solidFill>
                <a:srgbClr val="000000"/>
              </a:solidFill>
              <a:effectLst/>
              <a:uFillTx/>
              <a:latin typeface="Arial"/>
            </a:endParaRPr>
          </a:p>
        </p:txBody>
      </p:sp>
      <p:sp>
        <p:nvSpPr>
          <p:cNvPr id="245" name="Shape 6"/>
          <p:cNvSpPr/>
          <p:nvPr/>
        </p:nvSpPr>
        <p:spPr>
          <a:xfrm>
            <a:off x="3108960" y="1627560"/>
            <a:ext cx="82296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46" name="Shape 7"/>
          <p:cNvSpPr/>
          <p:nvPr/>
        </p:nvSpPr>
        <p:spPr>
          <a:xfrm>
            <a:off x="3977640" y="1325880"/>
            <a:ext cx="1599840" cy="594000"/>
          </a:xfrm>
          <a:prstGeom prst="roundRect">
            <a:avLst>
              <a:gd name="adj" fmla="val 9231"/>
            </a:avLst>
          </a:prstGeom>
          <a:solidFill>
            <a:srgbClr val="ffe8e6"/>
          </a:solidFill>
          <a:ln w="12700">
            <a:solidFill>
              <a:srgbClr val="ffe8e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47" name="Text 8"/>
          <p:cNvSpPr/>
          <p:nvPr/>
        </p:nvSpPr>
        <p:spPr>
          <a:xfrm>
            <a:off x="4050720" y="1398960"/>
            <a:ext cx="14536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b3261e"/>
                </a:solidFill>
                <a:effectLst/>
                <a:uFillTx/>
                <a:latin typeface="Aptos"/>
              </a:rPr>
              <a:t>Erreur</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b3261e"/>
                </a:solidFill>
                <a:effectLst/>
                <a:uFillTx/>
                <a:latin typeface="Aptos"/>
              </a:rPr>
              <a:t>temporaire</a:t>
            </a:r>
            <a:endParaRPr b="0" lang="fr-FR" sz="1150" strike="noStrike" u="none">
              <a:solidFill>
                <a:srgbClr val="000000"/>
              </a:solidFill>
              <a:effectLst/>
              <a:uFillTx/>
              <a:latin typeface="Arial"/>
            </a:endParaRPr>
          </a:p>
        </p:txBody>
      </p:sp>
      <p:sp>
        <p:nvSpPr>
          <p:cNvPr id="248" name="Shape 9"/>
          <p:cNvSpPr/>
          <p:nvPr/>
        </p:nvSpPr>
        <p:spPr>
          <a:xfrm>
            <a:off x="5623560" y="1627560"/>
            <a:ext cx="86868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49" name="Shape 10"/>
          <p:cNvSpPr/>
          <p:nvPr/>
        </p:nvSpPr>
        <p:spPr>
          <a:xfrm>
            <a:off x="6537960" y="1325880"/>
            <a:ext cx="1919880" cy="594000"/>
          </a:xfrm>
          <a:prstGeom prst="roundRect">
            <a:avLst>
              <a:gd name="adj" fmla="val 9231"/>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50" name="Text 11"/>
          <p:cNvSpPr/>
          <p:nvPr/>
        </p:nvSpPr>
        <p:spPr>
          <a:xfrm>
            <a:off x="6611040" y="1398960"/>
            <a:ext cx="177372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c27c0e"/>
                </a:solidFill>
                <a:effectLst/>
                <a:uFillTx/>
                <a:latin typeface="Aptos"/>
              </a:rPr>
              <a:t>Retry</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c27c0e"/>
                </a:solidFill>
                <a:effectLst/>
                <a:uFillTx/>
                <a:latin typeface="Aptos"/>
              </a:rPr>
              <a:t>3 tentatives</a:t>
            </a:r>
            <a:endParaRPr b="0" lang="fr-FR" sz="1150" strike="noStrike" u="none">
              <a:solidFill>
                <a:srgbClr val="000000"/>
              </a:solidFill>
              <a:effectLst/>
              <a:uFillTx/>
              <a:latin typeface="Arial"/>
            </a:endParaRPr>
          </a:p>
        </p:txBody>
      </p:sp>
      <p:sp>
        <p:nvSpPr>
          <p:cNvPr id="251" name="Shape 12"/>
          <p:cNvSpPr/>
          <p:nvPr/>
        </p:nvSpPr>
        <p:spPr>
          <a:xfrm>
            <a:off x="8503920" y="1627560"/>
            <a:ext cx="82296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52" name="Shape 13"/>
          <p:cNvSpPr/>
          <p:nvPr/>
        </p:nvSpPr>
        <p:spPr>
          <a:xfrm>
            <a:off x="9372600" y="1325880"/>
            <a:ext cx="1691280" cy="594000"/>
          </a:xfrm>
          <a:prstGeom prst="roundRect">
            <a:avLst>
              <a:gd name="adj" fmla="val 9231"/>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53" name="Text 14"/>
          <p:cNvSpPr/>
          <p:nvPr/>
        </p:nvSpPr>
        <p:spPr>
          <a:xfrm>
            <a:off x="9445680" y="1398960"/>
            <a:ext cx="154512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2e7d32"/>
                </a:solidFill>
                <a:effectLst/>
                <a:uFillTx/>
                <a:latin typeface="Aptos"/>
              </a:rPr>
              <a:t>Success</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2e7d32"/>
                </a:solidFill>
                <a:effectLst/>
                <a:uFillTx/>
                <a:latin typeface="Aptos"/>
              </a:rPr>
              <a:t>ou Failed</a:t>
            </a:r>
            <a:endParaRPr b="0" lang="fr-FR" sz="1150" strike="noStrike" u="none">
              <a:solidFill>
                <a:srgbClr val="000000"/>
              </a:solidFill>
              <a:effectLst/>
              <a:uFillTx/>
              <a:latin typeface="Arial"/>
            </a:endParaRPr>
          </a:p>
        </p:txBody>
      </p:sp>
      <p:sp>
        <p:nvSpPr>
          <p:cNvPr id="254" name="Shape 15"/>
          <p:cNvSpPr/>
          <p:nvPr/>
        </p:nvSpPr>
        <p:spPr>
          <a:xfrm>
            <a:off x="960120" y="3337560"/>
            <a:ext cx="2057040" cy="594000"/>
          </a:xfrm>
          <a:prstGeom prst="roundRect">
            <a:avLst>
              <a:gd name="adj" fmla="val 9231"/>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55" name="Text 16"/>
          <p:cNvSpPr/>
          <p:nvPr/>
        </p:nvSpPr>
        <p:spPr>
          <a:xfrm>
            <a:off x="1033200" y="3410640"/>
            <a:ext cx="19108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0e7c7b"/>
                </a:solidFill>
                <a:effectLst/>
                <a:uFillTx/>
                <a:latin typeface="Aptos"/>
              </a:rPr>
              <a:t>Tâche de test</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0e7c7b"/>
                </a:solidFill>
                <a:effectLst/>
                <a:uFillTx/>
                <a:latin typeface="Aptos"/>
              </a:rPr>
              <a:t>ex. CA, z-score</a:t>
            </a:r>
            <a:endParaRPr b="0" lang="fr-FR" sz="1150" strike="noStrike" u="none">
              <a:solidFill>
                <a:srgbClr val="000000"/>
              </a:solidFill>
              <a:effectLst/>
              <a:uFillTx/>
              <a:latin typeface="Arial"/>
            </a:endParaRPr>
          </a:p>
        </p:txBody>
      </p:sp>
      <p:sp>
        <p:nvSpPr>
          <p:cNvPr id="256" name="Shape 17"/>
          <p:cNvSpPr/>
          <p:nvPr/>
        </p:nvSpPr>
        <p:spPr>
          <a:xfrm>
            <a:off x="3108960" y="3639240"/>
            <a:ext cx="82296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57" name="Shape 18"/>
          <p:cNvSpPr/>
          <p:nvPr/>
        </p:nvSpPr>
        <p:spPr>
          <a:xfrm>
            <a:off x="3977640" y="3337560"/>
            <a:ext cx="1599840" cy="594000"/>
          </a:xfrm>
          <a:prstGeom prst="roundRect">
            <a:avLst>
              <a:gd name="adj" fmla="val 9231"/>
            </a:avLst>
          </a:prstGeom>
          <a:solidFill>
            <a:srgbClr val="ffe8e6"/>
          </a:solidFill>
          <a:ln w="12700">
            <a:solidFill>
              <a:srgbClr val="ffe8e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58" name="Text 19"/>
          <p:cNvSpPr/>
          <p:nvPr/>
        </p:nvSpPr>
        <p:spPr>
          <a:xfrm>
            <a:off x="4050720" y="3410640"/>
            <a:ext cx="145368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b3261e"/>
                </a:solidFill>
                <a:effectLst/>
                <a:uFillTx/>
                <a:latin typeface="Aptos"/>
              </a:rPr>
              <a:t>Valeur fausse</a:t>
            </a:r>
            <a:endParaRPr b="0" lang="fr-FR" sz="1150" strike="noStrike" u="none">
              <a:solidFill>
                <a:srgbClr val="000000"/>
              </a:solidFill>
              <a:effectLst/>
              <a:uFillTx/>
              <a:latin typeface="Arial"/>
            </a:endParaRPr>
          </a:p>
        </p:txBody>
      </p:sp>
      <p:sp>
        <p:nvSpPr>
          <p:cNvPr id="259" name="Shape 20"/>
          <p:cNvSpPr/>
          <p:nvPr/>
        </p:nvSpPr>
        <p:spPr>
          <a:xfrm>
            <a:off x="5623560" y="3639240"/>
            <a:ext cx="868680" cy="360"/>
          </a:xfrm>
          <a:prstGeom prst="line">
            <a:avLst/>
          </a:prstGeom>
          <a:ln w="1524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60" name="Shape 21"/>
          <p:cNvSpPr/>
          <p:nvPr/>
        </p:nvSpPr>
        <p:spPr>
          <a:xfrm>
            <a:off x="6537960" y="3337560"/>
            <a:ext cx="1919880" cy="594000"/>
          </a:xfrm>
          <a:prstGeom prst="roundRect">
            <a:avLst>
              <a:gd name="adj" fmla="val 9231"/>
            </a:avLst>
          </a:prstGeom>
          <a:solidFill>
            <a:srgbClr val="ffe8e6"/>
          </a:solidFill>
          <a:ln w="12700">
            <a:solidFill>
              <a:srgbClr val="ffe8e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61" name="Text 22"/>
          <p:cNvSpPr/>
          <p:nvPr/>
        </p:nvSpPr>
        <p:spPr>
          <a:xfrm>
            <a:off x="6611040" y="3410640"/>
            <a:ext cx="1773720" cy="447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b3261e"/>
                </a:solidFill>
                <a:effectLst/>
                <a:uFillTx/>
                <a:latin typeface="Aptos"/>
              </a:rPr>
              <a:t>Failed</a:t>
            </a:r>
            <a:endParaRPr b="0" lang="fr-FR" sz="1150" strike="noStrike" u="none">
              <a:solidFill>
                <a:srgbClr val="000000"/>
              </a:solidFill>
              <a:effectLst/>
              <a:uFillTx/>
              <a:latin typeface="Arial"/>
            </a:endParaRPr>
          </a:p>
          <a:p>
            <a:pPr algn="ctr" defTabSz="914400">
              <a:lnSpc>
                <a:spcPct val="100000"/>
              </a:lnSpc>
              <a:tabLst>
                <a:tab algn="l" pos="0"/>
              </a:tabLst>
            </a:pPr>
            <a:r>
              <a:rPr b="1" lang="en-US" sz="1150" strike="noStrike" u="none">
                <a:solidFill>
                  <a:srgbClr val="b3261e"/>
                </a:solidFill>
                <a:effectLst/>
                <a:uFillTx/>
                <a:latin typeface="Aptos"/>
              </a:rPr>
              <a:t>immédiat</a:t>
            </a:r>
            <a:endParaRPr b="0" lang="fr-FR" sz="1150" strike="noStrike" u="none">
              <a:solidFill>
                <a:srgbClr val="000000"/>
              </a:solidFill>
              <a:effectLst/>
              <a:uFillTx/>
              <a:latin typeface="Arial"/>
            </a:endParaRPr>
          </a:p>
        </p:txBody>
      </p:sp>
      <p:sp>
        <p:nvSpPr>
          <p:cNvPr id="262" name="Text 23"/>
          <p:cNvSpPr/>
          <p:nvPr/>
        </p:nvSpPr>
        <p:spPr>
          <a:xfrm>
            <a:off x="960120" y="5257800"/>
            <a:ext cx="70405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f2937"/>
                </a:solidFill>
                <a:effectLst/>
                <a:uFillTx/>
                <a:latin typeface="Aptos"/>
              </a:rPr>
              <a:t>Exemple simulé : test_retry.yml → exit 1 → 3 attempts → Failed</a:t>
            </a:r>
            <a:endParaRPr b="0" lang="fr-FR" sz="1400" strike="noStrike" u="none">
              <a:solidFill>
                <a:srgbClr val="000000"/>
              </a:solidFill>
              <a:effectLst/>
              <a:uFillTx/>
              <a:latin typeface="Arial"/>
            </a:endParaRPr>
          </a:p>
        </p:txBody>
      </p:sp>
      <p:sp>
        <p:nvSpPr>
          <p:cNvPr id="263" name="Shape 24"/>
          <p:cNvSpPr/>
          <p:nvPr/>
        </p:nvSpPr>
        <p:spPr>
          <a:xfrm>
            <a:off x="8046720" y="5166360"/>
            <a:ext cx="2925720" cy="310680"/>
          </a:xfrm>
          <a:prstGeom prst="roundRect">
            <a:avLst>
              <a:gd name="adj" fmla="val 50000"/>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64" name="Text 25"/>
          <p:cNvSpPr/>
          <p:nvPr/>
        </p:nvSpPr>
        <p:spPr>
          <a:xfrm>
            <a:off x="8119800" y="5239440"/>
            <a:ext cx="277956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ptos"/>
              </a:rPr>
              <a:t>Objectif : incident visible et traçable</a:t>
            </a:r>
            <a:endParaRPr b="0" lang="fr-FR" sz="900" strike="noStrike" u="none">
              <a:solidFill>
                <a:srgbClr val="000000"/>
              </a:solidFill>
              <a:effectLst/>
              <a:uFillTx/>
              <a:latin typeface="Arial"/>
            </a:endParaRPr>
          </a:p>
        </p:txBody>
      </p:sp>
      <p:sp>
        <p:nvSpPr>
          <p:cNvPr id="265" name="Text 26"/>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7</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67"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750" strike="noStrike" u="none">
                <a:solidFill>
                  <a:srgbClr val="667085"/>
                </a:solidFill>
                <a:effectLst/>
                <a:uFillTx/>
                <a:latin typeface="Aptos"/>
              </a:rPr>
              <a:t>ÉVOLUTIVITÉ</a:t>
            </a:r>
            <a:endParaRPr b="0" lang="fr-FR" sz="750" strike="noStrike" u="none">
              <a:solidFill>
                <a:srgbClr val="000000"/>
              </a:solidFill>
              <a:effectLst/>
              <a:uFillTx/>
              <a:latin typeface="Arial"/>
            </a:endParaRPr>
          </a:p>
        </p:txBody>
      </p:sp>
      <p:sp>
        <p:nvSpPr>
          <p:cNvPr id="268"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700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Onboarding d’une 4ᵉ source : prêt pour la soutenance</a:t>
            </a:r>
            <a:endParaRPr b="0" lang="fr-FR" sz="2900" strike="noStrike" u="none">
              <a:solidFill>
                <a:srgbClr val="000000"/>
              </a:solidFill>
              <a:effectLst/>
              <a:uFillTx/>
              <a:latin typeface="Arial"/>
            </a:endParaRPr>
          </a:p>
        </p:txBody>
      </p:sp>
      <p:sp>
        <p:nvSpPr>
          <p:cNvPr id="269"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fontScale="85000" lnSpcReduction="9999"/>
          </a:bodyPr>
          <a:p>
            <a:pPr defTabSz="914400">
              <a:lnSpc>
                <a:spcPct val="100000"/>
              </a:lnSpc>
              <a:tabLst>
                <a:tab algn="l" pos="0"/>
              </a:tabLst>
            </a:pPr>
            <a:r>
              <a:rPr b="0" lang="en-US" sz="1150" strike="noStrike" u="none">
                <a:solidFill>
                  <a:srgbClr val="667085"/>
                </a:solidFill>
                <a:effectLst/>
                <a:uFillTx/>
                <a:latin typeface="Aptos"/>
              </a:rPr>
              <a:t>Un flow dédié accepte un fichier uploadé, l’analyse, le joint puis relance le pipeline</a:t>
            </a:r>
            <a:endParaRPr b="0" lang="fr-FR" sz="1150" strike="noStrike" u="none">
              <a:solidFill>
                <a:srgbClr val="000000"/>
              </a:solidFill>
              <a:effectLst/>
              <a:uFillTx/>
              <a:latin typeface="Arial"/>
            </a:endParaRPr>
          </a:p>
        </p:txBody>
      </p:sp>
      <p:sp>
        <p:nvSpPr>
          <p:cNvPr id="270" name="Shape 4"/>
          <p:cNvSpPr/>
          <p:nvPr/>
        </p:nvSpPr>
        <p:spPr>
          <a:xfrm>
            <a:off x="777240" y="1508760"/>
            <a:ext cx="1325520" cy="868320"/>
          </a:xfrm>
          <a:prstGeom prst="roundRect">
            <a:avLst>
              <a:gd name="adj" fmla="val 6316"/>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71" name="Text 5"/>
          <p:cNvSpPr/>
          <p:nvPr/>
        </p:nvSpPr>
        <p:spPr>
          <a:xfrm>
            <a:off x="85032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1f2937"/>
                </a:solidFill>
                <a:effectLst/>
                <a:uFillTx/>
                <a:latin typeface="Aptos"/>
              </a:rPr>
              <a:t>Upload</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1f2937"/>
                </a:solidFill>
                <a:effectLst/>
                <a:uFillTx/>
                <a:latin typeface="Aptos"/>
              </a:rPr>
              <a:t>FILE</a:t>
            </a:r>
            <a:endParaRPr b="0" lang="fr-FR" sz="1020" strike="noStrike" u="none">
              <a:solidFill>
                <a:srgbClr val="000000"/>
              </a:solidFill>
              <a:effectLst/>
              <a:uFillTx/>
              <a:latin typeface="Arial"/>
            </a:endParaRPr>
          </a:p>
        </p:txBody>
      </p:sp>
      <p:sp>
        <p:nvSpPr>
          <p:cNvPr id="272" name="Shape 6"/>
          <p:cNvSpPr/>
          <p:nvPr/>
        </p:nvSpPr>
        <p:spPr>
          <a:xfrm>
            <a:off x="2103120" y="1938240"/>
            <a:ext cx="2743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73" name="Shape 7"/>
          <p:cNvSpPr/>
          <p:nvPr/>
        </p:nvSpPr>
        <p:spPr>
          <a:xfrm>
            <a:off x="2423160" y="1508760"/>
            <a:ext cx="1325520" cy="868320"/>
          </a:xfrm>
          <a:prstGeom prst="roundRect">
            <a:avLst>
              <a:gd name="adj" fmla="val 6316"/>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74" name="Text 8"/>
          <p:cNvSpPr/>
          <p:nvPr/>
        </p:nvSpPr>
        <p:spPr>
          <a:xfrm>
            <a:off x="249624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1f2937"/>
                </a:solidFill>
                <a:effectLst/>
                <a:uFillTx/>
                <a:latin typeface="Aptos"/>
              </a:rPr>
              <a:t>Analyse</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1f2937"/>
                </a:solidFill>
                <a:effectLst/>
                <a:uFillTx/>
                <a:latin typeface="Aptos"/>
              </a:rPr>
              <a:t>schéma</a:t>
            </a:r>
            <a:endParaRPr b="0" lang="fr-FR" sz="1020" strike="noStrike" u="none">
              <a:solidFill>
                <a:srgbClr val="000000"/>
              </a:solidFill>
              <a:effectLst/>
              <a:uFillTx/>
              <a:latin typeface="Arial"/>
            </a:endParaRPr>
          </a:p>
        </p:txBody>
      </p:sp>
      <p:sp>
        <p:nvSpPr>
          <p:cNvPr id="275" name="Shape 9"/>
          <p:cNvSpPr/>
          <p:nvPr/>
        </p:nvSpPr>
        <p:spPr>
          <a:xfrm>
            <a:off x="3840480" y="1938240"/>
            <a:ext cx="2743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76" name="Shape 10"/>
          <p:cNvSpPr/>
          <p:nvPr/>
        </p:nvSpPr>
        <p:spPr>
          <a:xfrm>
            <a:off x="4160520" y="1508760"/>
            <a:ext cx="1325520" cy="868320"/>
          </a:xfrm>
          <a:prstGeom prst="roundRect">
            <a:avLst>
              <a:gd name="adj" fmla="val 6316"/>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77" name="Text 11"/>
          <p:cNvSpPr/>
          <p:nvPr/>
        </p:nvSpPr>
        <p:spPr>
          <a:xfrm>
            <a:off x="423360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1f2937"/>
                </a:solidFill>
                <a:effectLst/>
                <a:uFillTx/>
                <a:latin typeface="Aptos"/>
              </a:rPr>
              <a:t>Clé commune</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1f2937"/>
                </a:solidFill>
                <a:effectLst/>
                <a:uFillTx/>
                <a:latin typeface="Aptos"/>
              </a:rPr>
              <a:t>product_id/sku/id_web</a:t>
            </a:r>
            <a:endParaRPr b="0" lang="fr-FR" sz="1020" strike="noStrike" u="none">
              <a:solidFill>
                <a:srgbClr val="000000"/>
              </a:solidFill>
              <a:effectLst/>
              <a:uFillTx/>
              <a:latin typeface="Arial"/>
            </a:endParaRPr>
          </a:p>
        </p:txBody>
      </p:sp>
      <p:sp>
        <p:nvSpPr>
          <p:cNvPr id="278" name="Shape 12"/>
          <p:cNvSpPr/>
          <p:nvPr/>
        </p:nvSpPr>
        <p:spPr>
          <a:xfrm>
            <a:off x="5577840" y="1938240"/>
            <a:ext cx="2743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79" name="Shape 13"/>
          <p:cNvSpPr/>
          <p:nvPr/>
        </p:nvSpPr>
        <p:spPr>
          <a:xfrm>
            <a:off x="5897880" y="1508760"/>
            <a:ext cx="1325520" cy="868320"/>
          </a:xfrm>
          <a:prstGeom prst="roundRect">
            <a:avLst>
              <a:gd name="adj" fmla="val 6316"/>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80" name="Text 14"/>
          <p:cNvSpPr/>
          <p:nvPr/>
        </p:nvSpPr>
        <p:spPr>
          <a:xfrm>
            <a:off x="597096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1f2937"/>
                </a:solidFill>
                <a:effectLst/>
                <a:uFillTx/>
                <a:latin typeface="Aptos"/>
              </a:rPr>
              <a:t>Jointure</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1f2937"/>
                </a:solidFill>
                <a:effectLst/>
                <a:uFillTx/>
                <a:latin typeface="Aptos"/>
              </a:rPr>
              <a:t>contrôlée</a:t>
            </a:r>
            <a:endParaRPr b="0" lang="fr-FR" sz="1020" strike="noStrike" u="none">
              <a:solidFill>
                <a:srgbClr val="000000"/>
              </a:solidFill>
              <a:effectLst/>
              <a:uFillTx/>
              <a:latin typeface="Arial"/>
            </a:endParaRPr>
          </a:p>
        </p:txBody>
      </p:sp>
      <p:sp>
        <p:nvSpPr>
          <p:cNvPr id="281" name="Shape 15"/>
          <p:cNvSpPr/>
          <p:nvPr/>
        </p:nvSpPr>
        <p:spPr>
          <a:xfrm>
            <a:off x="7315200" y="1938240"/>
            <a:ext cx="2743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82" name="Shape 16"/>
          <p:cNvSpPr/>
          <p:nvPr/>
        </p:nvSpPr>
        <p:spPr>
          <a:xfrm>
            <a:off x="7635240" y="1508760"/>
            <a:ext cx="1325520" cy="868320"/>
          </a:xfrm>
          <a:prstGeom prst="roundRect">
            <a:avLst>
              <a:gd name="adj" fmla="val 6316"/>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83" name="Text 17"/>
          <p:cNvSpPr/>
          <p:nvPr/>
        </p:nvSpPr>
        <p:spPr>
          <a:xfrm>
            <a:off x="770832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1f2937"/>
                </a:solidFill>
                <a:effectLst/>
                <a:uFillTx/>
                <a:latin typeface="Aptos"/>
              </a:rPr>
              <a:t>CA +</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1f2937"/>
                </a:solidFill>
                <a:effectLst/>
                <a:uFillTx/>
                <a:latin typeface="Aptos"/>
              </a:rPr>
              <a:t>z-score</a:t>
            </a:r>
            <a:endParaRPr b="0" lang="fr-FR" sz="1020" strike="noStrike" u="none">
              <a:solidFill>
                <a:srgbClr val="000000"/>
              </a:solidFill>
              <a:effectLst/>
              <a:uFillTx/>
              <a:latin typeface="Arial"/>
            </a:endParaRPr>
          </a:p>
        </p:txBody>
      </p:sp>
      <p:sp>
        <p:nvSpPr>
          <p:cNvPr id="284" name="Shape 18"/>
          <p:cNvSpPr/>
          <p:nvPr/>
        </p:nvSpPr>
        <p:spPr>
          <a:xfrm>
            <a:off x="9052560" y="1938240"/>
            <a:ext cx="274320" cy="360"/>
          </a:xfrm>
          <a:prstGeom prst="line">
            <a:avLst/>
          </a:prstGeom>
          <a:ln w="12700">
            <a:solidFill>
              <a:srgbClr val="667085"/>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285" name="Shape 19"/>
          <p:cNvSpPr/>
          <p:nvPr/>
        </p:nvSpPr>
        <p:spPr>
          <a:xfrm>
            <a:off x="9372600" y="1508760"/>
            <a:ext cx="1325520" cy="868320"/>
          </a:xfrm>
          <a:prstGeom prst="roundRect">
            <a:avLst>
              <a:gd name="adj" fmla="val 6316"/>
            </a:avLst>
          </a:prstGeom>
          <a:solidFill>
            <a:srgbClr val="ede9fe"/>
          </a:solidFill>
          <a:ln w="12700">
            <a:solidFill>
              <a:srgbClr val="ede9fe">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86" name="Text 20"/>
          <p:cNvSpPr/>
          <p:nvPr/>
        </p:nvSpPr>
        <p:spPr>
          <a:xfrm>
            <a:off x="9445680" y="1581840"/>
            <a:ext cx="11793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6941c6"/>
                </a:solidFill>
                <a:effectLst/>
                <a:uFillTx/>
                <a:latin typeface="Aptos"/>
              </a:rPr>
              <a:t>Branches</a:t>
            </a:r>
            <a:endParaRPr b="0" lang="fr-FR" sz="1020" strike="noStrike" u="none">
              <a:solidFill>
                <a:srgbClr val="000000"/>
              </a:solidFill>
              <a:effectLst/>
              <a:uFillTx/>
              <a:latin typeface="Arial"/>
            </a:endParaRPr>
          </a:p>
          <a:p>
            <a:pPr algn="ctr" defTabSz="914400">
              <a:lnSpc>
                <a:spcPct val="100000"/>
              </a:lnSpc>
              <a:tabLst>
                <a:tab algn="l" pos="0"/>
              </a:tabLst>
            </a:pPr>
            <a:r>
              <a:rPr b="1" lang="en-US" sz="1020" strike="noStrike" u="none">
                <a:solidFill>
                  <a:srgbClr val="6941c6"/>
                </a:solidFill>
                <a:effectLst/>
                <a:uFillTx/>
                <a:latin typeface="Aptos"/>
              </a:rPr>
              <a:t>Premium/Ordinaire</a:t>
            </a:r>
            <a:endParaRPr b="0" lang="fr-FR" sz="1020" strike="noStrike" u="none">
              <a:solidFill>
                <a:srgbClr val="000000"/>
              </a:solidFill>
              <a:effectLst/>
              <a:uFillTx/>
              <a:latin typeface="Arial"/>
            </a:endParaRPr>
          </a:p>
        </p:txBody>
      </p:sp>
      <p:sp>
        <p:nvSpPr>
          <p:cNvPr id="287" name="Text 21"/>
          <p:cNvSpPr/>
          <p:nvPr/>
        </p:nvSpPr>
        <p:spPr>
          <a:xfrm>
            <a:off x="822960" y="3246120"/>
            <a:ext cx="3291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Démonstration validée</a:t>
            </a:r>
            <a:endParaRPr b="0" lang="fr-FR" sz="1800" strike="noStrike" u="none">
              <a:solidFill>
                <a:srgbClr val="000000"/>
              </a:solidFill>
              <a:effectLst/>
              <a:uFillTx/>
              <a:latin typeface="Arial"/>
            </a:endParaRPr>
          </a:p>
        </p:txBody>
      </p:sp>
      <p:sp>
        <p:nvSpPr>
          <p:cNvPr id="288" name="Shape 22"/>
          <p:cNvSpPr/>
          <p:nvPr/>
        </p:nvSpPr>
        <p:spPr>
          <a:xfrm>
            <a:off x="868680" y="37490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89" name="Text 23"/>
          <p:cNvSpPr/>
          <p:nvPr/>
        </p:nvSpPr>
        <p:spPr>
          <a:xfrm>
            <a:off x="1033200" y="36849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source de test : Fichier_erp.xlsx</a:t>
            </a:r>
            <a:endParaRPr b="0" lang="fr-FR" sz="1450" strike="noStrike" u="none">
              <a:solidFill>
                <a:srgbClr val="000000"/>
              </a:solidFill>
              <a:effectLst/>
              <a:uFillTx/>
              <a:latin typeface="Arial"/>
            </a:endParaRPr>
          </a:p>
        </p:txBody>
      </p:sp>
      <p:sp>
        <p:nvSpPr>
          <p:cNvPr id="290" name="Shape 24"/>
          <p:cNvSpPr/>
          <p:nvPr/>
        </p:nvSpPr>
        <p:spPr>
          <a:xfrm>
            <a:off x="868680" y="41972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91" name="Text 25"/>
          <p:cNvSpPr/>
          <p:nvPr/>
        </p:nvSpPr>
        <p:spPr>
          <a:xfrm>
            <a:off x="1033200" y="413316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clé détectée : product_id</a:t>
            </a:r>
            <a:endParaRPr b="0" lang="fr-FR" sz="1450" strike="noStrike" u="none">
              <a:solidFill>
                <a:srgbClr val="000000"/>
              </a:solidFill>
              <a:effectLst/>
              <a:uFillTx/>
              <a:latin typeface="Arial"/>
            </a:endParaRPr>
          </a:p>
        </p:txBody>
      </p:sp>
      <p:sp>
        <p:nvSpPr>
          <p:cNvPr id="292" name="Shape 26"/>
          <p:cNvSpPr/>
          <p:nvPr/>
        </p:nvSpPr>
        <p:spPr>
          <a:xfrm>
            <a:off x="868680" y="464508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93" name="Text 27"/>
          <p:cNvSpPr/>
          <p:nvPr/>
        </p:nvSpPr>
        <p:spPr>
          <a:xfrm>
            <a:off x="1033200" y="458100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714 correspondances · 100 % de couverture</a:t>
            </a:r>
            <a:endParaRPr b="0" lang="fr-FR" sz="1450" strike="noStrike" u="none">
              <a:solidFill>
                <a:srgbClr val="000000"/>
              </a:solidFill>
              <a:effectLst/>
              <a:uFillTx/>
              <a:latin typeface="Arial"/>
            </a:endParaRPr>
          </a:p>
        </p:txBody>
      </p:sp>
      <p:sp>
        <p:nvSpPr>
          <p:cNvPr id="294" name="Shape 28"/>
          <p:cNvSpPr/>
          <p:nvPr/>
        </p:nvSpPr>
        <p:spPr>
          <a:xfrm>
            <a:off x="868680" y="509328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295" name="Text 29"/>
          <p:cNvSpPr/>
          <p:nvPr/>
        </p:nvSpPr>
        <p:spPr>
          <a:xfrm>
            <a:off x="1033200" y="5029200"/>
            <a:ext cx="42058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50" strike="noStrike" u="none">
                <a:solidFill>
                  <a:srgbClr val="1f2937"/>
                </a:solidFill>
                <a:effectLst/>
                <a:uFillTx/>
                <a:latin typeface="Aptos"/>
              </a:rPr>
              <a:t>aucune multiplication de lignes</a:t>
            </a:r>
            <a:endParaRPr b="0" lang="fr-FR" sz="1450" strike="noStrike" u="none">
              <a:solidFill>
                <a:srgbClr val="000000"/>
              </a:solidFill>
              <a:effectLst/>
              <a:uFillTx/>
              <a:latin typeface="Arial"/>
            </a:endParaRPr>
          </a:p>
        </p:txBody>
      </p:sp>
      <p:sp>
        <p:nvSpPr>
          <p:cNvPr id="296" name="Text 30"/>
          <p:cNvSpPr/>
          <p:nvPr/>
        </p:nvSpPr>
        <p:spPr>
          <a:xfrm>
            <a:off x="6629400" y="3246120"/>
            <a:ext cx="3291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Limite volontaire</a:t>
            </a:r>
            <a:endParaRPr b="0" lang="fr-FR" sz="1800" strike="noStrike" u="none">
              <a:solidFill>
                <a:srgbClr val="000000"/>
              </a:solidFill>
              <a:effectLst/>
              <a:uFillTx/>
              <a:latin typeface="Arial"/>
            </a:endParaRPr>
          </a:p>
        </p:txBody>
      </p:sp>
      <p:sp>
        <p:nvSpPr>
          <p:cNvPr id="297" name="Shape 31"/>
          <p:cNvSpPr/>
          <p:nvPr/>
        </p:nvSpPr>
        <p:spPr>
          <a:xfrm>
            <a:off x="6629400" y="3703320"/>
            <a:ext cx="4068720" cy="1078560"/>
          </a:xfrm>
          <a:prstGeom prst="roundRect">
            <a:avLst>
              <a:gd name="adj" fmla="val 5085"/>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298" name="Text 32"/>
          <p:cNvSpPr/>
          <p:nvPr/>
        </p:nvSpPr>
        <p:spPr>
          <a:xfrm>
            <a:off x="6702480" y="3776400"/>
            <a:ext cx="3922560" cy="932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f2937"/>
                </a:solidFill>
                <a:effectLst/>
                <a:uFillTx/>
                <a:latin typeface="Aptos"/>
              </a:rPr>
              <a:t>La source enrichit les ventes avec des colonnes extra_</a:t>
            </a:r>
            <a:endParaRPr b="0" lang="fr-FR" sz="1200" strike="noStrike" u="none">
              <a:solidFill>
                <a:srgbClr val="000000"/>
              </a:solidFill>
              <a:effectLst/>
              <a:uFillTx/>
              <a:latin typeface="Arial"/>
            </a:endParaRPr>
          </a:p>
          <a:p>
            <a:pPr algn="ctr" defTabSz="914400">
              <a:lnSpc>
                <a:spcPct val="100000"/>
              </a:lnSpc>
              <a:tabLst>
                <a:tab algn="l" pos="0"/>
              </a:tabLst>
            </a:pPr>
            <a:r>
              <a:rPr b="0" lang="en-US" sz="1200" strike="noStrike" u="none">
                <a:solidFill>
                  <a:srgbClr val="1f2937"/>
                </a:solidFill>
                <a:effectLst/>
                <a:uFillTx/>
                <a:latin typeface="Aptos"/>
              </a:rPr>
              <a:t>mais ne remplace pas price ou total_sales sans règle métier validée.</a:t>
            </a:r>
            <a:endParaRPr b="0" lang="fr-FR" sz="1200" strike="noStrike" u="none">
              <a:solidFill>
                <a:srgbClr val="000000"/>
              </a:solidFill>
              <a:effectLst/>
              <a:uFillTx/>
              <a:latin typeface="Arial"/>
            </a:endParaRPr>
          </a:p>
        </p:txBody>
      </p:sp>
      <p:sp>
        <p:nvSpPr>
          <p:cNvPr id="299" name="Text 33"/>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8</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01"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50" strike="noStrike" u="none">
                <a:solidFill>
                  <a:srgbClr val="667085"/>
                </a:solidFill>
                <a:effectLst/>
                <a:uFillTx/>
                <a:latin typeface="Aptos"/>
              </a:rPr>
              <a:t>DÉMO</a:t>
            </a:r>
            <a:endParaRPr b="0" lang="fr-FR" sz="750" strike="noStrike" u="none">
              <a:solidFill>
                <a:srgbClr val="000000"/>
              </a:solidFill>
              <a:effectLst/>
              <a:uFillTx/>
              <a:latin typeface="Arial"/>
            </a:endParaRPr>
          </a:p>
        </p:txBody>
      </p:sp>
      <p:sp>
        <p:nvSpPr>
          <p:cNvPr id="302"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1" lang="en-US" sz="2900" strike="noStrike" u="none">
                <a:solidFill>
                  <a:srgbClr val="12355b"/>
                </a:solidFill>
                <a:effectLst/>
                <a:uFillTx/>
                <a:latin typeface="Aptos Display"/>
                <a:ea typeface="Aptos Display"/>
              </a:rPr>
              <a:t>Démonstration en 3 minutes</a:t>
            </a:r>
            <a:endParaRPr b="0" lang="fr-FR" sz="2900" strike="noStrike" u="none">
              <a:solidFill>
                <a:srgbClr val="000000"/>
              </a:solidFill>
              <a:effectLst/>
              <a:uFillTx/>
              <a:latin typeface="Arial"/>
            </a:endParaRPr>
          </a:p>
        </p:txBody>
      </p:sp>
      <p:sp>
        <p:nvSpPr>
          <p:cNvPr id="303"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50" strike="noStrike" u="none">
                <a:solidFill>
                  <a:srgbClr val="667085"/>
                </a:solidFill>
                <a:effectLst/>
                <a:uFillTx/>
                <a:latin typeface="Aptos"/>
              </a:rPr>
              <a:t>Le chemin le plus efficace pour montrer que tout fonctionne</a:t>
            </a:r>
            <a:endParaRPr b="0" lang="fr-FR" sz="1150" strike="noStrike" u="none">
              <a:solidFill>
                <a:srgbClr val="000000"/>
              </a:solidFill>
              <a:effectLst/>
              <a:uFillTx/>
              <a:latin typeface="Arial"/>
            </a:endParaRPr>
          </a:p>
        </p:txBody>
      </p:sp>
      <p:sp>
        <p:nvSpPr>
          <p:cNvPr id="304" name="Shape 4"/>
          <p:cNvSpPr/>
          <p:nvPr/>
        </p:nvSpPr>
        <p:spPr>
          <a:xfrm>
            <a:off x="822960" y="1234440"/>
            <a:ext cx="1142640" cy="438480"/>
          </a:xfrm>
          <a:prstGeom prst="roundRect">
            <a:avLst>
              <a:gd name="adj" fmla="val 12500"/>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05" name="Text 5"/>
          <p:cNvSpPr/>
          <p:nvPr/>
        </p:nvSpPr>
        <p:spPr>
          <a:xfrm>
            <a:off x="896040" y="1307520"/>
            <a:ext cx="9964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ffff"/>
                </a:solidFill>
                <a:effectLst/>
                <a:uFillTx/>
                <a:latin typeface="Aptos"/>
              </a:rPr>
              <a:t>0:00–0:30</a:t>
            </a:r>
            <a:endParaRPr b="0" lang="fr-FR" sz="1020" strike="noStrike" u="none">
              <a:solidFill>
                <a:srgbClr val="000000"/>
              </a:solidFill>
              <a:effectLst/>
              <a:uFillTx/>
              <a:latin typeface="Arial"/>
            </a:endParaRPr>
          </a:p>
        </p:txBody>
      </p:sp>
      <p:sp>
        <p:nvSpPr>
          <p:cNvPr id="306" name="Shape 6"/>
          <p:cNvSpPr/>
          <p:nvPr/>
        </p:nvSpPr>
        <p:spPr>
          <a:xfrm>
            <a:off x="2148840" y="1234440"/>
            <a:ext cx="1828440" cy="438480"/>
          </a:xfrm>
          <a:prstGeom prst="roundRect">
            <a:avLst>
              <a:gd name="adj" fmla="val 12500"/>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07" name="Text 7"/>
          <p:cNvSpPr/>
          <p:nvPr/>
        </p:nvSpPr>
        <p:spPr>
          <a:xfrm>
            <a:off x="2221920" y="1307520"/>
            <a:ext cx="16822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f2937"/>
                </a:solidFill>
                <a:effectLst/>
                <a:uFillTx/>
                <a:latin typeface="Aptos"/>
              </a:rPr>
              <a:t>Contexte</a:t>
            </a:r>
            <a:endParaRPr b="0" lang="fr-FR" sz="1150" strike="noStrike" u="none">
              <a:solidFill>
                <a:srgbClr val="000000"/>
              </a:solidFill>
              <a:effectLst/>
              <a:uFillTx/>
              <a:latin typeface="Arial"/>
            </a:endParaRPr>
          </a:p>
        </p:txBody>
      </p:sp>
      <p:sp>
        <p:nvSpPr>
          <p:cNvPr id="308" name="Text 8"/>
          <p:cNvSpPr/>
          <p:nvPr/>
        </p:nvSpPr>
        <p:spPr>
          <a:xfrm>
            <a:off x="4251960" y="1325880"/>
            <a:ext cx="6309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20" strike="noStrike" u="none">
                <a:solidFill>
                  <a:srgbClr val="1f2937"/>
                </a:solidFill>
                <a:effectLst/>
                <a:uFillTx/>
                <a:latin typeface="Aptos"/>
              </a:rPr>
              <a:t>Problème manuel ERP/Web et livrables attendus</a:t>
            </a:r>
            <a:endParaRPr b="0" lang="fr-FR" sz="1320" strike="noStrike" u="none">
              <a:solidFill>
                <a:srgbClr val="000000"/>
              </a:solidFill>
              <a:effectLst/>
              <a:uFillTx/>
              <a:latin typeface="Arial"/>
            </a:endParaRPr>
          </a:p>
        </p:txBody>
      </p:sp>
      <p:sp>
        <p:nvSpPr>
          <p:cNvPr id="309" name="Shape 9"/>
          <p:cNvSpPr/>
          <p:nvPr/>
        </p:nvSpPr>
        <p:spPr>
          <a:xfrm>
            <a:off x="822960" y="2039040"/>
            <a:ext cx="1142640" cy="438480"/>
          </a:xfrm>
          <a:prstGeom prst="roundRect">
            <a:avLst>
              <a:gd name="adj" fmla="val 12500"/>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10" name="Text 10"/>
          <p:cNvSpPr/>
          <p:nvPr/>
        </p:nvSpPr>
        <p:spPr>
          <a:xfrm>
            <a:off x="896040" y="2112120"/>
            <a:ext cx="9964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ffff"/>
                </a:solidFill>
                <a:effectLst/>
                <a:uFillTx/>
                <a:latin typeface="Aptos"/>
              </a:rPr>
              <a:t>0:30–1:15</a:t>
            </a:r>
            <a:endParaRPr b="0" lang="fr-FR" sz="1020" strike="noStrike" u="none">
              <a:solidFill>
                <a:srgbClr val="000000"/>
              </a:solidFill>
              <a:effectLst/>
              <a:uFillTx/>
              <a:latin typeface="Arial"/>
            </a:endParaRPr>
          </a:p>
        </p:txBody>
      </p:sp>
      <p:sp>
        <p:nvSpPr>
          <p:cNvPr id="311" name="Shape 11"/>
          <p:cNvSpPr/>
          <p:nvPr/>
        </p:nvSpPr>
        <p:spPr>
          <a:xfrm>
            <a:off x="2148840" y="2039040"/>
            <a:ext cx="1828440" cy="438480"/>
          </a:xfrm>
          <a:prstGeom prst="roundRect">
            <a:avLst>
              <a:gd name="adj" fmla="val 12500"/>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12" name="Text 12"/>
          <p:cNvSpPr/>
          <p:nvPr/>
        </p:nvSpPr>
        <p:spPr>
          <a:xfrm>
            <a:off x="2221920" y="2112120"/>
            <a:ext cx="16822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f2937"/>
                </a:solidFill>
                <a:effectLst/>
                <a:uFillTx/>
                <a:latin typeface="Aptos"/>
              </a:rPr>
              <a:t>Workflow</a:t>
            </a:r>
            <a:endParaRPr b="0" lang="fr-FR" sz="1150" strike="noStrike" u="none">
              <a:solidFill>
                <a:srgbClr val="000000"/>
              </a:solidFill>
              <a:effectLst/>
              <a:uFillTx/>
              <a:latin typeface="Arial"/>
            </a:endParaRPr>
          </a:p>
        </p:txBody>
      </p:sp>
      <p:sp>
        <p:nvSpPr>
          <p:cNvPr id="313" name="Text 13"/>
          <p:cNvSpPr/>
          <p:nvPr/>
        </p:nvSpPr>
        <p:spPr>
          <a:xfrm>
            <a:off x="4251960" y="2130480"/>
            <a:ext cx="6309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20" strike="noStrike" u="none">
                <a:solidFill>
                  <a:srgbClr val="1f2937"/>
                </a:solidFill>
                <a:effectLst/>
                <a:uFillTx/>
                <a:latin typeface="Aptos"/>
              </a:rPr>
              <a:t>Montrer pipeline_comptoir dans Kestra + tests</a:t>
            </a:r>
            <a:endParaRPr b="0" lang="fr-FR" sz="1320" strike="noStrike" u="none">
              <a:solidFill>
                <a:srgbClr val="000000"/>
              </a:solidFill>
              <a:effectLst/>
              <a:uFillTx/>
              <a:latin typeface="Arial"/>
            </a:endParaRPr>
          </a:p>
        </p:txBody>
      </p:sp>
      <p:sp>
        <p:nvSpPr>
          <p:cNvPr id="314" name="Shape 14"/>
          <p:cNvSpPr/>
          <p:nvPr/>
        </p:nvSpPr>
        <p:spPr>
          <a:xfrm>
            <a:off x="822960" y="2843640"/>
            <a:ext cx="1142640" cy="438480"/>
          </a:xfrm>
          <a:prstGeom prst="roundRect">
            <a:avLst>
              <a:gd name="adj" fmla="val 12500"/>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15" name="Text 15"/>
          <p:cNvSpPr/>
          <p:nvPr/>
        </p:nvSpPr>
        <p:spPr>
          <a:xfrm>
            <a:off x="896040" y="2917080"/>
            <a:ext cx="9964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ffff"/>
                </a:solidFill>
                <a:effectLst/>
                <a:uFillTx/>
                <a:latin typeface="Aptos"/>
              </a:rPr>
              <a:t>1:15–1:55</a:t>
            </a:r>
            <a:endParaRPr b="0" lang="fr-FR" sz="1020" strike="noStrike" u="none">
              <a:solidFill>
                <a:srgbClr val="000000"/>
              </a:solidFill>
              <a:effectLst/>
              <a:uFillTx/>
              <a:latin typeface="Arial"/>
            </a:endParaRPr>
          </a:p>
        </p:txBody>
      </p:sp>
      <p:sp>
        <p:nvSpPr>
          <p:cNvPr id="316" name="Shape 16"/>
          <p:cNvSpPr/>
          <p:nvPr/>
        </p:nvSpPr>
        <p:spPr>
          <a:xfrm>
            <a:off x="2148840" y="2843640"/>
            <a:ext cx="1828440" cy="438480"/>
          </a:xfrm>
          <a:prstGeom prst="roundRect">
            <a:avLst>
              <a:gd name="adj" fmla="val 12500"/>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17" name="Text 17"/>
          <p:cNvSpPr/>
          <p:nvPr/>
        </p:nvSpPr>
        <p:spPr>
          <a:xfrm>
            <a:off x="2221920" y="2917080"/>
            <a:ext cx="16822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f2937"/>
                </a:solidFill>
                <a:effectLst/>
                <a:uFillTx/>
                <a:latin typeface="Aptos"/>
              </a:rPr>
              <a:t>Résultats</a:t>
            </a:r>
            <a:endParaRPr b="0" lang="fr-FR" sz="1150" strike="noStrike" u="none">
              <a:solidFill>
                <a:srgbClr val="000000"/>
              </a:solidFill>
              <a:effectLst/>
              <a:uFillTx/>
              <a:latin typeface="Arial"/>
            </a:endParaRPr>
          </a:p>
        </p:txBody>
      </p:sp>
      <p:sp>
        <p:nvSpPr>
          <p:cNvPr id="318" name="Text 18"/>
          <p:cNvSpPr/>
          <p:nvPr/>
        </p:nvSpPr>
        <p:spPr>
          <a:xfrm>
            <a:off x="4251960" y="2935080"/>
            <a:ext cx="6309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20" strike="noStrike" u="none">
                <a:solidFill>
                  <a:srgbClr val="1f2937"/>
                </a:solidFill>
                <a:effectLst/>
                <a:uFillTx/>
                <a:latin typeface="Aptos"/>
              </a:rPr>
              <a:t>CA 70 568,60 €, 30 premium, 684 ordinaires</a:t>
            </a:r>
            <a:endParaRPr b="0" lang="fr-FR" sz="1320" strike="noStrike" u="none">
              <a:solidFill>
                <a:srgbClr val="000000"/>
              </a:solidFill>
              <a:effectLst/>
              <a:uFillTx/>
              <a:latin typeface="Arial"/>
            </a:endParaRPr>
          </a:p>
        </p:txBody>
      </p:sp>
      <p:sp>
        <p:nvSpPr>
          <p:cNvPr id="319" name="Shape 19"/>
          <p:cNvSpPr/>
          <p:nvPr/>
        </p:nvSpPr>
        <p:spPr>
          <a:xfrm>
            <a:off x="822960" y="3648600"/>
            <a:ext cx="1142640" cy="438480"/>
          </a:xfrm>
          <a:prstGeom prst="roundRect">
            <a:avLst>
              <a:gd name="adj" fmla="val 12500"/>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20" name="Text 20"/>
          <p:cNvSpPr/>
          <p:nvPr/>
        </p:nvSpPr>
        <p:spPr>
          <a:xfrm>
            <a:off x="896040" y="3721680"/>
            <a:ext cx="9964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ffff"/>
                </a:solidFill>
                <a:effectLst/>
                <a:uFillTx/>
                <a:latin typeface="Aptos"/>
              </a:rPr>
              <a:t>1:55–2:30</a:t>
            </a:r>
            <a:endParaRPr b="0" lang="fr-FR" sz="1020" strike="noStrike" u="none">
              <a:solidFill>
                <a:srgbClr val="000000"/>
              </a:solidFill>
              <a:effectLst/>
              <a:uFillTx/>
              <a:latin typeface="Arial"/>
            </a:endParaRPr>
          </a:p>
        </p:txBody>
      </p:sp>
      <p:sp>
        <p:nvSpPr>
          <p:cNvPr id="321" name="Shape 21"/>
          <p:cNvSpPr/>
          <p:nvPr/>
        </p:nvSpPr>
        <p:spPr>
          <a:xfrm>
            <a:off x="2148840" y="3648600"/>
            <a:ext cx="1828440" cy="438480"/>
          </a:xfrm>
          <a:prstGeom prst="roundRect">
            <a:avLst>
              <a:gd name="adj" fmla="val 12500"/>
            </a:avLst>
          </a:prstGeom>
          <a:solidFill>
            <a:srgbClr val="e6f7f6"/>
          </a:solidFill>
          <a:ln w="12700">
            <a:solidFill>
              <a:srgbClr val="e6f7f6">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22" name="Text 22"/>
          <p:cNvSpPr/>
          <p:nvPr/>
        </p:nvSpPr>
        <p:spPr>
          <a:xfrm>
            <a:off x="2221920" y="3721680"/>
            <a:ext cx="16822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f2937"/>
                </a:solidFill>
                <a:effectLst/>
                <a:uFillTx/>
                <a:latin typeface="Aptos"/>
              </a:rPr>
              <a:t>Robustesse</a:t>
            </a:r>
            <a:endParaRPr b="0" lang="fr-FR" sz="1150" strike="noStrike" u="none">
              <a:solidFill>
                <a:srgbClr val="000000"/>
              </a:solidFill>
              <a:effectLst/>
              <a:uFillTx/>
              <a:latin typeface="Arial"/>
            </a:endParaRPr>
          </a:p>
        </p:txBody>
      </p:sp>
      <p:sp>
        <p:nvSpPr>
          <p:cNvPr id="323" name="Text 23"/>
          <p:cNvSpPr/>
          <p:nvPr/>
        </p:nvSpPr>
        <p:spPr>
          <a:xfrm>
            <a:off x="4251960" y="3740040"/>
            <a:ext cx="6309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20" strike="noStrike" u="none">
                <a:solidFill>
                  <a:srgbClr val="1f2937"/>
                </a:solidFill>
                <a:effectLst/>
                <a:uFillTx/>
                <a:latin typeface="Aptos"/>
              </a:rPr>
              <a:t>Retries + tests bloquants + cron</a:t>
            </a:r>
            <a:endParaRPr b="0" lang="fr-FR" sz="1320" strike="noStrike" u="none">
              <a:solidFill>
                <a:srgbClr val="000000"/>
              </a:solidFill>
              <a:effectLst/>
              <a:uFillTx/>
              <a:latin typeface="Arial"/>
            </a:endParaRPr>
          </a:p>
        </p:txBody>
      </p:sp>
      <p:sp>
        <p:nvSpPr>
          <p:cNvPr id="324" name="Shape 24"/>
          <p:cNvSpPr/>
          <p:nvPr/>
        </p:nvSpPr>
        <p:spPr>
          <a:xfrm>
            <a:off x="822960" y="4453200"/>
            <a:ext cx="1142640" cy="438480"/>
          </a:xfrm>
          <a:prstGeom prst="roundRect">
            <a:avLst>
              <a:gd name="adj" fmla="val 12500"/>
            </a:avLst>
          </a:prstGeom>
          <a:solidFill>
            <a:srgbClr val="12355b"/>
          </a:solidFill>
          <a:ln w="12700">
            <a:solidFill>
              <a:srgbClr val="12355b">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25" name="Text 25"/>
          <p:cNvSpPr/>
          <p:nvPr/>
        </p:nvSpPr>
        <p:spPr>
          <a:xfrm>
            <a:off x="896040" y="4526280"/>
            <a:ext cx="9964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ffff"/>
                </a:solidFill>
                <a:effectLst/>
                <a:uFillTx/>
                <a:latin typeface="Aptos"/>
              </a:rPr>
              <a:t>2:30–3:00</a:t>
            </a:r>
            <a:endParaRPr b="0" lang="fr-FR" sz="1020" strike="noStrike" u="none">
              <a:solidFill>
                <a:srgbClr val="000000"/>
              </a:solidFill>
              <a:effectLst/>
              <a:uFillTx/>
              <a:latin typeface="Arial"/>
            </a:endParaRPr>
          </a:p>
        </p:txBody>
      </p:sp>
      <p:sp>
        <p:nvSpPr>
          <p:cNvPr id="326" name="Shape 26"/>
          <p:cNvSpPr/>
          <p:nvPr/>
        </p:nvSpPr>
        <p:spPr>
          <a:xfrm>
            <a:off x="2148840" y="4453200"/>
            <a:ext cx="1828440" cy="438480"/>
          </a:xfrm>
          <a:prstGeom prst="roundRect">
            <a:avLst>
              <a:gd name="adj" fmla="val 12500"/>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27" name="Text 27"/>
          <p:cNvSpPr/>
          <p:nvPr/>
        </p:nvSpPr>
        <p:spPr>
          <a:xfrm>
            <a:off x="2221920" y="4526280"/>
            <a:ext cx="16822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trike="noStrike" u="none">
                <a:solidFill>
                  <a:srgbClr val="1f2937"/>
                </a:solidFill>
                <a:effectLst/>
                <a:uFillTx/>
                <a:latin typeface="Aptos"/>
              </a:rPr>
              <a:t>Évolutivité</a:t>
            </a:r>
            <a:endParaRPr b="0" lang="fr-FR" sz="1150" strike="noStrike" u="none">
              <a:solidFill>
                <a:srgbClr val="000000"/>
              </a:solidFill>
              <a:effectLst/>
              <a:uFillTx/>
              <a:latin typeface="Arial"/>
            </a:endParaRPr>
          </a:p>
        </p:txBody>
      </p:sp>
      <p:sp>
        <p:nvSpPr>
          <p:cNvPr id="328" name="Text 28"/>
          <p:cNvSpPr/>
          <p:nvPr/>
        </p:nvSpPr>
        <p:spPr>
          <a:xfrm>
            <a:off x="4251960" y="4544640"/>
            <a:ext cx="6309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20" strike="noStrike" u="none">
                <a:solidFill>
                  <a:srgbClr val="1f2937"/>
                </a:solidFill>
                <a:effectLst/>
                <a:uFillTx/>
                <a:latin typeface="Aptos"/>
              </a:rPr>
              <a:t>Flow 4ᵉ source + branches Premium/Ordinaire</a:t>
            </a:r>
            <a:endParaRPr b="0" lang="fr-FR" sz="1320" strike="noStrike" u="none">
              <a:solidFill>
                <a:srgbClr val="000000"/>
              </a:solidFill>
              <a:effectLst/>
              <a:uFillTx/>
              <a:latin typeface="Arial"/>
            </a:endParaRPr>
          </a:p>
        </p:txBody>
      </p:sp>
      <p:sp>
        <p:nvSpPr>
          <p:cNvPr id="329" name="Text 29"/>
          <p:cNvSpPr/>
          <p:nvPr/>
        </p:nvSpPr>
        <p:spPr>
          <a:xfrm>
            <a:off x="868680" y="5193720"/>
            <a:ext cx="1919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2355b"/>
                </a:solidFill>
                <a:effectLst/>
                <a:uFillTx/>
                <a:latin typeface="Aptos"/>
              </a:rPr>
              <a:t>À ouvrir pendant la démo</a:t>
            </a:r>
            <a:endParaRPr b="0" lang="fr-FR" sz="1600" strike="noStrike" u="none">
              <a:solidFill>
                <a:srgbClr val="000000"/>
              </a:solidFill>
              <a:effectLst/>
              <a:uFillTx/>
              <a:latin typeface="Arial"/>
            </a:endParaRPr>
          </a:p>
        </p:txBody>
      </p:sp>
      <p:sp>
        <p:nvSpPr>
          <p:cNvPr id="330" name="Shape 30"/>
          <p:cNvSpPr/>
          <p:nvPr/>
        </p:nvSpPr>
        <p:spPr>
          <a:xfrm>
            <a:off x="3246120" y="5431680"/>
            <a:ext cx="2011320" cy="310680"/>
          </a:xfrm>
          <a:prstGeom prst="roundRect">
            <a:avLst>
              <a:gd name="adj" fmla="val 50000"/>
            </a:avLst>
          </a:prstGeom>
          <a:solidFill>
            <a:srgbClr val="e6f7f6"/>
          </a:solidFill>
          <a:ln w="12700">
            <a:solidFill>
              <a:srgbClr val="e6f7f6"/>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31" name="Text 31"/>
          <p:cNvSpPr/>
          <p:nvPr/>
        </p:nvSpPr>
        <p:spPr>
          <a:xfrm>
            <a:off x="3319200" y="5504760"/>
            <a:ext cx="186516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0e7c7b"/>
                </a:solidFill>
                <a:effectLst/>
                <a:uFillTx/>
                <a:latin typeface="Aptos"/>
              </a:rPr>
              <a:t>Kestra</a:t>
            </a:r>
            <a:endParaRPr b="0" lang="fr-FR" sz="900" strike="noStrike" u="none">
              <a:solidFill>
                <a:srgbClr val="000000"/>
              </a:solidFill>
              <a:effectLst/>
              <a:uFillTx/>
              <a:latin typeface="Arial"/>
            </a:endParaRPr>
          </a:p>
        </p:txBody>
      </p:sp>
      <p:sp>
        <p:nvSpPr>
          <p:cNvPr id="332" name="Shape 32"/>
          <p:cNvSpPr/>
          <p:nvPr/>
        </p:nvSpPr>
        <p:spPr>
          <a:xfrm>
            <a:off x="5532120" y="5431680"/>
            <a:ext cx="2011320" cy="310680"/>
          </a:xfrm>
          <a:prstGeom prst="roundRect">
            <a:avLst>
              <a:gd name="adj" fmla="val 50000"/>
            </a:avLst>
          </a:prstGeom>
          <a:solidFill>
            <a:srgbClr val="eaf3ff"/>
          </a:solidFill>
          <a:ln w="12700">
            <a:solidFill>
              <a:srgbClr val="eaf3ff"/>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33" name="Text 33"/>
          <p:cNvSpPr/>
          <p:nvPr/>
        </p:nvSpPr>
        <p:spPr>
          <a:xfrm>
            <a:off x="5605200" y="5504760"/>
            <a:ext cx="186516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12355b"/>
                </a:solidFill>
                <a:effectLst/>
                <a:uFillTx/>
                <a:latin typeface="Aptos"/>
              </a:rPr>
              <a:t>GitHub</a:t>
            </a:r>
            <a:endParaRPr b="0" lang="fr-FR" sz="900" strike="noStrike" u="none">
              <a:solidFill>
                <a:srgbClr val="000000"/>
              </a:solidFill>
              <a:effectLst/>
              <a:uFillTx/>
              <a:latin typeface="Arial"/>
            </a:endParaRPr>
          </a:p>
        </p:txBody>
      </p:sp>
      <p:sp>
        <p:nvSpPr>
          <p:cNvPr id="334" name="Shape 34"/>
          <p:cNvSpPr/>
          <p:nvPr/>
        </p:nvSpPr>
        <p:spPr>
          <a:xfrm>
            <a:off x="7818120" y="5431680"/>
            <a:ext cx="2011320" cy="310680"/>
          </a:xfrm>
          <a:prstGeom prst="roundRect">
            <a:avLst>
              <a:gd name="adj" fmla="val 50000"/>
            </a:avLst>
          </a:prstGeom>
          <a:solidFill>
            <a:srgbClr val="eaf7ea"/>
          </a:solidFill>
          <a:ln w="12700">
            <a:solidFill>
              <a:srgbClr val="eaf7ea"/>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35" name="Text 35"/>
          <p:cNvSpPr/>
          <p:nvPr/>
        </p:nvSpPr>
        <p:spPr>
          <a:xfrm>
            <a:off x="7891200" y="5504760"/>
            <a:ext cx="1865160" cy="145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2e7d32"/>
                </a:solidFill>
                <a:effectLst/>
                <a:uFillTx/>
                <a:latin typeface="Aptos"/>
              </a:rPr>
              <a:t>outputs/</a:t>
            </a:r>
            <a:endParaRPr b="0" lang="fr-FR" sz="900" strike="noStrike" u="none">
              <a:solidFill>
                <a:srgbClr val="000000"/>
              </a:solidFill>
              <a:effectLst/>
              <a:uFillTx/>
              <a:latin typeface="Arial"/>
            </a:endParaRPr>
          </a:p>
        </p:txBody>
      </p:sp>
      <p:sp>
        <p:nvSpPr>
          <p:cNvPr id="336" name="Text 36"/>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9</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7" name="Shape 0"/>
          <p:cNvSpPr/>
          <p:nvPr/>
        </p:nvSpPr>
        <p:spPr>
          <a:xfrm>
            <a:off x="0" y="0"/>
            <a:ext cx="255600" cy="6857640"/>
          </a:xfrm>
          <a:prstGeom prst="rect">
            <a:avLst/>
          </a:prstGeom>
          <a:solidFill>
            <a:srgbClr val="12355b"/>
          </a:solidFill>
          <a:ln w="12700">
            <a:solidFill>
              <a:srgbClr val="12355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338" name="Text 1"/>
          <p:cNvSpPr/>
          <p:nvPr/>
        </p:nvSpPr>
        <p:spPr>
          <a:xfrm rot="5400000">
            <a:off x="11156040" y="292680"/>
            <a:ext cx="594000" cy="13680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750" strike="noStrike" u="none">
                <a:solidFill>
                  <a:srgbClr val="667085"/>
                </a:solidFill>
                <a:effectLst/>
                <a:uFillTx/>
                <a:latin typeface="Aptos"/>
              </a:rPr>
              <a:t>CONCLUSION</a:t>
            </a:r>
            <a:endParaRPr b="0" lang="fr-FR" sz="750" strike="noStrike" u="none">
              <a:solidFill>
                <a:srgbClr val="000000"/>
              </a:solidFill>
              <a:effectLst/>
              <a:uFillTx/>
              <a:latin typeface="Arial"/>
            </a:endParaRPr>
          </a:p>
        </p:txBody>
      </p:sp>
      <p:sp>
        <p:nvSpPr>
          <p:cNvPr id="339" name="Text 2"/>
          <p:cNvSpPr/>
          <p:nvPr/>
        </p:nvSpPr>
        <p:spPr>
          <a:xfrm>
            <a:off x="594360" y="320040"/>
            <a:ext cx="7589160" cy="383760"/>
          </a:xfrm>
          <a:prstGeom prst="rect">
            <a:avLst/>
          </a:prstGeom>
          <a:noFill/>
          <a:ln w="0">
            <a:noFill/>
          </a:ln>
        </p:spPr>
        <p:style>
          <a:lnRef idx="0"/>
          <a:fillRef idx="0"/>
          <a:effectRef idx="0"/>
          <a:fontRef idx="minor"/>
        </p:style>
        <p:txBody>
          <a:bodyPr lIns="360" rIns="360" tIns="360" bIns="360" anchor="ctr">
            <a:normAutofit fontScale="62500" lnSpcReduction="19999"/>
          </a:bodyPr>
          <a:p>
            <a:pPr defTabSz="914400">
              <a:lnSpc>
                <a:spcPct val="100000"/>
              </a:lnSpc>
              <a:tabLst>
                <a:tab algn="l" pos="0"/>
              </a:tabLst>
            </a:pPr>
            <a:r>
              <a:rPr b="1" lang="en-US" sz="2900" strike="noStrike" u="none">
                <a:solidFill>
                  <a:srgbClr val="12355b"/>
                </a:solidFill>
                <a:effectLst/>
                <a:uFillTx/>
                <a:latin typeface="Aptos Display"/>
                <a:ea typeface="Aptos Display"/>
              </a:rPr>
              <a:t>Bilan : un pipeline reproductible, contrôlé et extensible</a:t>
            </a:r>
            <a:endParaRPr b="0" lang="fr-FR" sz="2900" strike="noStrike" u="none">
              <a:solidFill>
                <a:srgbClr val="000000"/>
              </a:solidFill>
              <a:effectLst/>
              <a:uFillTx/>
              <a:latin typeface="Arial"/>
            </a:endParaRPr>
          </a:p>
        </p:txBody>
      </p:sp>
      <p:sp>
        <p:nvSpPr>
          <p:cNvPr id="340" name="Text 3"/>
          <p:cNvSpPr/>
          <p:nvPr/>
        </p:nvSpPr>
        <p:spPr>
          <a:xfrm>
            <a:off x="621720" y="758880"/>
            <a:ext cx="5760360" cy="255600"/>
          </a:xfrm>
          <a:prstGeom prst="rect">
            <a:avLst/>
          </a:prstGeom>
          <a:noFill/>
          <a:ln w="0">
            <a:noFill/>
          </a:ln>
        </p:spPr>
        <p:style>
          <a:lnRef idx="0"/>
          <a:fillRef idx="0"/>
          <a:effectRef idx="0"/>
          <a:fontRef idx="minor"/>
        </p:style>
        <p:txBody>
          <a:bodyPr lIns="360" rIns="360" tIns="360" bIns="360" anchor="ctr">
            <a:normAutofit fontScale="85000" lnSpcReduction="19999"/>
          </a:bodyPr>
          <a:p>
            <a:pPr defTabSz="914400">
              <a:lnSpc>
                <a:spcPct val="100000"/>
              </a:lnSpc>
              <a:tabLst>
                <a:tab algn="l" pos="0"/>
              </a:tabLst>
            </a:pPr>
            <a:r>
              <a:rPr b="0" lang="en-US" sz="1150" strike="noStrike" u="none">
                <a:solidFill>
                  <a:srgbClr val="667085"/>
                </a:solidFill>
                <a:effectLst/>
                <a:uFillTx/>
                <a:latin typeface="Aptos"/>
              </a:rPr>
              <a:t>Le dépôt GitHub contient le workflow, les scripts, les livrables, les captures et la documentation</a:t>
            </a:r>
            <a:endParaRPr b="0" lang="fr-FR" sz="1150" strike="noStrike" u="none">
              <a:solidFill>
                <a:srgbClr val="000000"/>
              </a:solidFill>
              <a:effectLst/>
              <a:uFillTx/>
              <a:latin typeface="Arial"/>
            </a:endParaRPr>
          </a:p>
        </p:txBody>
      </p:sp>
      <p:sp>
        <p:nvSpPr>
          <p:cNvPr id="341" name="Shape 4"/>
          <p:cNvSpPr/>
          <p:nvPr/>
        </p:nvSpPr>
        <p:spPr>
          <a:xfrm>
            <a:off x="822960" y="1234440"/>
            <a:ext cx="2377080" cy="658080"/>
          </a:xfrm>
          <a:prstGeom prst="roundRect">
            <a:avLst>
              <a:gd name="adj" fmla="val 8333"/>
            </a:avLst>
          </a:prstGeom>
          <a:solidFill>
            <a:srgbClr val="eaf3ff"/>
          </a:solidFill>
          <a:ln w="12700">
            <a:solidFill>
              <a:srgbClr val="eaf3ff">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42" name="Text 5"/>
          <p:cNvSpPr/>
          <p:nvPr/>
        </p:nvSpPr>
        <p:spPr>
          <a:xfrm>
            <a:off x="896040" y="1307520"/>
            <a:ext cx="223092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12355b"/>
                </a:solidFill>
                <a:effectLst/>
                <a:uFillTx/>
                <a:latin typeface="Aptos"/>
              </a:rPr>
              <a:t>Automatisé</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12355b"/>
                </a:solidFill>
                <a:effectLst/>
                <a:uFillTx/>
                <a:latin typeface="Aptos"/>
              </a:rPr>
              <a:t>cron 15 à 9h</a:t>
            </a:r>
            <a:endParaRPr b="0" lang="fr-FR" sz="1300" strike="noStrike" u="none">
              <a:solidFill>
                <a:srgbClr val="000000"/>
              </a:solidFill>
              <a:effectLst/>
              <a:uFillTx/>
              <a:latin typeface="Arial"/>
            </a:endParaRPr>
          </a:p>
        </p:txBody>
      </p:sp>
      <p:sp>
        <p:nvSpPr>
          <p:cNvPr id="343" name="Shape 6"/>
          <p:cNvSpPr/>
          <p:nvPr/>
        </p:nvSpPr>
        <p:spPr>
          <a:xfrm>
            <a:off x="3429000" y="1234440"/>
            <a:ext cx="2377080" cy="658080"/>
          </a:xfrm>
          <a:prstGeom prst="roundRect">
            <a:avLst>
              <a:gd name="adj" fmla="val 8333"/>
            </a:avLst>
          </a:prstGeom>
          <a:solidFill>
            <a:srgbClr val="eaf7ea"/>
          </a:solidFill>
          <a:ln w="12700">
            <a:solidFill>
              <a:srgbClr val="eaf7e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44" name="Text 7"/>
          <p:cNvSpPr/>
          <p:nvPr/>
        </p:nvSpPr>
        <p:spPr>
          <a:xfrm>
            <a:off x="3502080" y="1307520"/>
            <a:ext cx="223092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2e7d32"/>
                </a:solidFill>
                <a:effectLst/>
                <a:uFillTx/>
                <a:latin typeface="Aptos"/>
              </a:rPr>
              <a:t>Contrôlé</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2e7d32"/>
                </a:solidFill>
                <a:effectLst/>
                <a:uFillTx/>
                <a:latin typeface="Aptos"/>
              </a:rPr>
              <a:t>tests bloquants</a:t>
            </a:r>
            <a:endParaRPr b="0" lang="fr-FR" sz="1300" strike="noStrike" u="none">
              <a:solidFill>
                <a:srgbClr val="000000"/>
              </a:solidFill>
              <a:effectLst/>
              <a:uFillTx/>
              <a:latin typeface="Arial"/>
            </a:endParaRPr>
          </a:p>
        </p:txBody>
      </p:sp>
      <p:sp>
        <p:nvSpPr>
          <p:cNvPr id="345" name="Shape 8"/>
          <p:cNvSpPr/>
          <p:nvPr/>
        </p:nvSpPr>
        <p:spPr>
          <a:xfrm>
            <a:off x="6035040" y="1234440"/>
            <a:ext cx="2377080" cy="658080"/>
          </a:xfrm>
          <a:prstGeom prst="roundRect">
            <a:avLst>
              <a:gd name="adj" fmla="val 8333"/>
            </a:avLst>
          </a:prstGeom>
          <a:solidFill>
            <a:srgbClr val="fff4e5"/>
          </a:solidFill>
          <a:ln w="12700">
            <a:solidFill>
              <a:srgbClr val="fff4e5">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46" name="Text 9"/>
          <p:cNvSpPr/>
          <p:nvPr/>
        </p:nvSpPr>
        <p:spPr>
          <a:xfrm>
            <a:off x="6108120" y="1307520"/>
            <a:ext cx="223092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c27c0e"/>
                </a:solidFill>
                <a:effectLst/>
                <a:uFillTx/>
                <a:latin typeface="Aptos"/>
              </a:rPr>
              <a:t>Robuste</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c27c0e"/>
                </a:solidFill>
                <a:effectLst/>
                <a:uFillTx/>
                <a:latin typeface="Aptos"/>
              </a:rPr>
              <a:t>retries</a:t>
            </a:r>
            <a:endParaRPr b="0" lang="fr-FR" sz="1300" strike="noStrike" u="none">
              <a:solidFill>
                <a:srgbClr val="000000"/>
              </a:solidFill>
              <a:effectLst/>
              <a:uFillTx/>
              <a:latin typeface="Arial"/>
            </a:endParaRPr>
          </a:p>
        </p:txBody>
      </p:sp>
      <p:sp>
        <p:nvSpPr>
          <p:cNvPr id="347" name="Shape 10"/>
          <p:cNvSpPr/>
          <p:nvPr/>
        </p:nvSpPr>
        <p:spPr>
          <a:xfrm>
            <a:off x="8641080" y="1234440"/>
            <a:ext cx="2377080" cy="658080"/>
          </a:xfrm>
          <a:prstGeom prst="roundRect">
            <a:avLst>
              <a:gd name="adj" fmla="val 8333"/>
            </a:avLst>
          </a:prstGeom>
          <a:solidFill>
            <a:srgbClr val="ede9fe"/>
          </a:solidFill>
          <a:ln w="12700">
            <a:solidFill>
              <a:srgbClr val="ede9fe">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48" name="Text 11"/>
          <p:cNvSpPr/>
          <p:nvPr/>
        </p:nvSpPr>
        <p:spPr>
          <a:xfrm>
            <a:off x="8714160" y="1307520"/>
            <a:ext cx="223092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6941c6"/>
                </a:solidFill>
                <a:effectLst/>
                <a:uFillTx/>
                <a:latin typeface="Aptos"/>
              </a:rPr>
              <a:t>Extensible</a:t>
            </a:r>
            <a:endParaRPr b="0" lang="fr-FR"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6941c6"/>
                </a:solidFill>
                <a:effectLst/>
                <a:uFillTx/>
                <a:latin typeface="Aptos"/>
              </a:rPr>
              <a:t>4ᵉ source</a:t>
            </a:r>
            <a:endParaRPr b="0" lang="fr-FR" sz="1300" strike="noStrike" u="none">
              <a:solidFill>
                <a:srgbClr val="000000"/>
              </a:solidFill>
              <a:effectLst/>
              <a:uFillTx/>
              <a:latin typeface="Arial"/>
            </a:endParaRPr>
          </a:p>
        </p:txBody>
      </p:sp>
      <p:sp>
        <p:nvSpPr>
          <p:cNvPr id="349" name="Text 12"/>
          <p:cNvSpPr/>
          <p:nvPr/>
        </p:nvSpPr>
        <p:spPr>
          <a:xfrm>
            <a:off x="868680" y="2743200"/>
            <a:ext cx="3291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Questions anticipées</a:t>
            </a:r>
            <a:endParaRPr b="0" lang="fr-FR" sz="1800" strike="noStrike" u="none">
              <a:solidFill>
                <a:srgbClr val="000000"/>
              </a:solidFill>
              <a:effectLst/>
              <a:uFillTx/>
              <a:latin typeface="Arial"/>
            </a:endParaRPr>
          </a:p>
        </p:txBody>
      </p:sp>
      <p:sp>
        <p:nvSpPr>
          <p:cNvPr id="350" name="Shape 13"/>
          <p:cNvSpPr/>
          <p:nvPr/>
        </p:nvSpPr>
        <p:spPr>
          <a:xfrm>
            <a:off x="914400" y="326448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351" name="Text 14"/>
          <p:cNvSpPr/>
          <p:nvPr/>
        </p:nvSpPr>
        <p:spPr>
          <a:xfrm>
            <a:off x="1078920" y="3200400"/>
            <a:ext cx="4205880" cy="2923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0" lang="en-US" sz="1400" strike="noStrike" u="none">
                <a:solidFill>
                  <a:srgbClr val="1f2937"/>
                </a:solidFill>
                <a:effectLst/>
                <a:uFillTx/>
                <a:latin typeface="Aptos"/>
              </a:rPr>
              <a:t>Pourquoi Kestra ? orchestration, visualisation, cron, retries, branches</a:t>
            </a:r>
            <a:endParaRPr b="0" lang="fr-FR" sz="1400" strike="noStrike" u="none">
              <a:solidFill>
                <a:srgbClr val="000000"/>
              </a:solidFill>
              <a:effectLst/>
              <a:uFillTx/>
              <a:latin typeface="Arial"/>
            </a:endParaRPr>
          </a:p>
        </p:txBody>
      </p:sp>
      <p:sp>
        <p:nvSpPr>
          <p:cNvPr id="352" name="Shape 15"/>
          <p:cNvSpPr/>
          <p:nvPr/>
        </p:nvSpPr>
        <p:spPr>
          <a:xfrm>
            <a:off x="914400" y="37400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353" name="Text 16"/>
          <p:cNvSpPr/>
          <p:nvPr/>
        </p:nvSpPr>
        <p:spPr>
          <a:xfrm>
            <a:off x="1078920" y="3675960"/>
            <a:ext cx="4205880" cy="2923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0" lang="en-US" sz="1400" strike="noStrike" u="none">
                <a:solidFill>
                  <a:srgbClr val="1f2937"/>
                </a:solidFill>
                <a:effectLst/>
                <a:uFillTx/>
                <a:latin typeface="Aptos"/>
              </a:rPr>
              <a:t>Pourquoi DuckDB ? SQL local, analytique, simple, reproductible</a:t>
            </a:r>
            <a:endParaRPr b="0" lang="fr-FR" sz="1400" strike="noStrike" u="none">
              <a:solidFill>
                <a:srgbClr val="000000"/>
              </a:solidFill>
              <a:effectLst/>
              <a:uFillTx/>
              <a:latin typeface="Arial"/>
            </a:endParaRPr>
          </a:p>
        </p:txBody>
      </p:sp>
      <p:sp>
        <p:nvSpPr>
          <p:cNvPr id="354" name="Shape 17"/>
          <p:cNvSpPr/>
          <p:nvPr/>
        </p:nvSpPr>
        <p:spPr>
          <a:xfrm>
            <a:off x="914400" y="421524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355" name="Text 18"/>
          <p:cNvSpPr/>
          <p:nvPr/>
        </p:nvSpPr>
        <p:spPr>
          <a:xfrm>
            <a:off x="1078920" y="4151520"/>
            <a:ext cx="4205880" cy="2923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0" lang="en-US" sz="1400" strike="noStrike" u="none">
                <a:solidFill>
                  <a:srgbClr val="1f2937"/>
                </a:solidFill>
                <a:effectLst/>
                <a:uFillTx/>
                <a:latin typeface="Aptos"/>
              </a:rPr>
              <a:t>Que faire si une donnée est fausse ? le test échoue et le pipeline s’arrête</a:t>
            </a:r>
            <a:endParaRPr b="0" lang="fr-FR" sz="1400" strike="noStrike" u="none">
              <a:solidFill>
                <a:srgbClr val="000000"/>
              </a:solidFill>
              <a:effectLst/>
              <a:uFillTx/>
              <a:latin typeface="Arial"/>
            </a:endParaRPr>
          </a:p>
        </p:txBody>
      </p:sp>
      <p:sp>
        <p:nvSpPr>
          <p:cNvPr id="356" name="Shape 19"/>
          <p:cNvSpPr/>
          <p:nvPr/>
        </p:nvSpPr>
        <p:spPr>
          <a:xfrm>
            <a:off x="914400" y="4690800"/>
            <a:ext cx="72720" cy="72720"/>
          </a:xfrm>
          <a:prstGeom prst="ellipse">
            <a:avLst/>
          </a:prstGeom>
          <a:solidFill>
            <a:srgbClr val="1f6feb"/>
          </a:solidFill>
          <a:ln w="12700">
            <a:solidFill>
              <a:srgbClr val="1f6feb"/>
            </a:solidFill>
            <a:round/>
          </a:ln>
        </p:spPr>
        <p:style>
          <a:lnRef idx="0"/>
          <a:fillRef idx="0"/>
          <a:effectRef idx="0"/>
          <a:fontRef idx="minor"/>
        </p:style>
        <p:txBody>
          <a:bodyPr lIns="90000" rIns="90000" tIns="6840" bIns="6840" anchor="t">
            <a:noAutofit/>
          </a:bodyPr>
          <a:p>
            <a:endParaRPr b="0" lang="fr-FR" sz="1800" strike="noStrike" u="none">
              <a:solidFill>
                <a:srgbClr val="ffffff"/>
              </a:solidFill>
              <a:effectLst/>
              <a:uFillTx/>
              <a:latin typeface="Arial"/>
            </a:endParaRPr>
          </a:p>
        </p:txBody>
      </p:sp>
      <p:sp>
        <p:nvSpPr>
          <p:cNvPr id="357" name="Text 20"/>
          <p:cNvSpPr/>
          <p:nvPr/>
        </p:nvSpPr>
        <p:spPr>
          <a:xfrm>
            <a:off x="1078920" y="4626720"/>
            <a:ext cx="4205880" cy="2923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0" lang="en-US" sz="1400" strike="noStrike" u="none">
                <a:solidFill>
                  <a:srgbClr val="1f2937"/>
                </a:solidFill>
                <a:effectLst/>
                <a:uFillTx/>
                <a:latin typeface="Aptos"/>
              </a:rPr>
              <a:t>Et si une nouvelle source arrive ? flow dédié d’onboarding et jointure contrôlée</a:t>
            </a:r>
            <a:endParaRPr b="0" lang="fr-FR" sz="1400" strike="noStrike" u="none">
              <a:solidFill>
                <a:srgbClr val="000000"/>
              </a:solidFill>
              <a:effectLst/>
              <a:uFillTx/>
              <a:latin typeface="Arial"/>
            </a:endParaRPr>
          </a:p>
        </p:txBody>
      </p:sp>
      <p:sp>
        <p:nvSpPr>
          <p:cNvPr id="358" name="Text 21"/>
          <p:cNvSpPr/>
          <p:nvPr/>
        </p:nvSpPr>
        <p:spPr>
          <a:xfrm>
            <a:off x="6949440" y="2743200"/>
            <a:ext cx="32914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2355b"/>
                </a:solidFill>
                <a:effectLst/>
                <a:uFillTx/>
                <a:latin typeface="Aptos"/>
              </a:rPr>
              <a:t>Prochaines améliorations</a:t>
            </a:r>
            <a:endParaRPr b="0" lang="fr-FR" sz="1800" strike="noStrike" u="none">
              <a:solidFill>
                <a:srgbClr val="000000"/>
              </a:solidFill>
              <a:effectLst/>
              <a:uFillTx/>
              <a:latin typeface="Arial"/>
            </a:endParaRPr>
          </a:p>
        </p:txBody>
      </p:sp>
      <p:sp>
        <p:nvSpPr>
          <p:cNvPr id="359" name="Shape 22"/>
          <p:cNvSpPr/>
          <p:nvPr/>
        </p:nvSpPr>
        <p:spPr>
          <a:xfrm>
            <a:off x="6967800" y="3182040"/>
            <a:ext cx="3428640" cy="411120"/>
          </a:xfrm>
          <a:prstGeom prst="roundRect">
            <a:avLst>
              <a:gd name="adj" fmla="val 13333"/>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60" name="Text 23"/>
          <p:cNvSpPr/>
          <p:nvPr/>
        </p:nvSpPr>
        <p:spPr>
          <a:xfrm>
            <a:off x="7040880" y="3255120"/>
            <a:ext cx="32824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50" strike="noStrike" u="none">
                <a:solidFill>
                  <a:srgbClr val="1f2937"/>
                </a:solidFill>
                <a:effectLst/>
                <a:uFillTx/>
                <a:latin typeface="Aptos"/>
              </a:rPr>
              <a:t>notifications d’échec</a:t>
            </a:r>
            <a:endParaRPr b="0" lang="fr-FR" sz="1150" strike="noStrike" u="none">
              <a:solidFill>
                <a:srgbClr val="000000"/>
              </a:solidFill>
              <a:effectLst/>
              <a:uFillTx/>
              <a:latin typeface="Arial"/>
            </a:endParaRPr>
          </a:p>
        </p:txBody>
      </p:sp>
      <p:sp>
        <p:nvSpPr>
          <p:cNvPr id="361" name="Shape 24"/>
          <p:cNvSpPr/>
          <p:nvPr/>
        </p:nvSpPr>
        <p:spPr>
          <a:xfrm>
            <a:off x="6967800" y="3730680"/>
            <a:ext cx="3428640" cy="411120"/>
          </a:xfrm>
          <a:prstGeom prst="roundRect">
            <a:avLst>
              <a:gd name="adj" fmla="val 13333"/>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62" name="Text 25"/>
          <p:cNvSpPr/>
          <p:nvPr/>
        </p:nvSpPr>
        <p:spPr>
          <a:xfrm>
            <a:off x="7040880" y="3803760"/>
            <a:ext cx="32824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50" strike="noStrike" u="none">
                <a:solidFill>
                  <a:srgbClr val="1f2937"/>
                </a:solidFill>
                <a:effectLst/>
                <a:uFillTx/>
                <a:latin typeface="Aptos"/>
              </a:rPr>
              <a:t>historisation mensuelle des résultats</a:t>
            </a:r>
            <a:endParaRPr b="0" lang="fr-FR" sz="1150" strike="noStrike" u="none">
              <a:solidFill>
                <a:srgbClr val="000000"/>
              </a:solidFill>
              <a:effectLst/>
              <a:uFillTx/>
              <a:latin typeface="Arial"/>
            </a:endParaRPr>
          </a:p>
        </p:txBody>
      </p:sp>
      <p:sp>
        <p:nvSpPr>
          <p:cNvPr id="363" name="Shape 26"/>
          <p:cNvSpPr/>
          <p:nvPr/>
        </p:nvSpPr>
        <p:spPr>
          <a:xfrm>
            <a:off x="6967800" y="4279320"/>
            <a:ext cx="3428640" cy="411120"/>
          </a:xfrm>
          <a:prstGeom prst="roundRect">
            <a:avLst>
              <a:gd name="adj" fmla="val 13333"/>
            </a:avLst>
          </a:prstGeom>
          <a:solidFill>
            <a:srgbClr val="f6f8fa"/>
          </a:solidFill>
          <a:ln w="12700">
            <a:solidFill>
              <a:srgbClr val="f6f8fa">
                <a:alpha val="90000"/>
              </a:srgbClr>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64" name="Text 27"/>
          <p:cNvSpPr/>
          <p:nvPr/>
        </p:nvSpPr>
        <p:spPr>
          <a:xfrm>
            <a:off x="7040880" y="4352400"/>
            <a:ext cx="32824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50" strike="noStrike" u="none">
                <a:solidFill>
                  <a:srgbClr val="1f2937"/>
                </a:solidFill>
                <a:effectLst/>
                <a:uFillTx/>
                <a:latin typeface="Aptos"/>
              </a:rPr>
              <a:t>monitoring et métriques de pipeline</a:t>
            </a:r>
            <a:endParaRPr b="0" lang="fr-FR" sz="1150" strike="noStrike" u="none">
              <a:solidFill>
                <a:srgbClr val="000000"/>
              </a:solidFill>
              <a:effectLst/>
              <a:uFillTx/>
              <a:latin typeface="Arial"/>
            </a:endParaRPr>
          </a:p>
        </p:txBody>
      </p:sp>
      <p:sp>
        <p:nvSpPr>
          <p:cNvPr id="365" name="Text 28"/>
          <p:cNvSpPr/>
          <p:nvPr/>
        </p:nvSpPr>
        <p:spPr>
          <a:xfrm>
            <a:off x="502920" y="6446520"/>
            <a:ext cx="5943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80" strike="noStrike" u="none">
                <a:solidFill>
                  <a:srgbClr val="667085"/>
                </a:solidFill>
                <a:effectLst/>
                <a:uFillTx/>
                <a:latin typeface="Aptos"/>
                <a:ea typeface="Aptos"/>
              </a:rPr>
              <a:t>Comptoir des Coteaux · Pipeline Data Engineering · 10</a:t>
            </a:r>
            <a:endParaRPr b="0" lang="fr-FR" sz="78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LibreOffice/25.2.7.2$Windows_X86_64 LibreOffice_project/5cbfd1ab6520636bb5f7b99185aa69bd7456825d</Application>
  <AppVersion>15.0000</AppVersion>
  <Words>0</Words>
  <Paragraphs>0</Paragraphs>
  <Company>Formation Data Engineer</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2026-09-25T12:32:37Z</dcterms:created>
  <dc:creator>Marie Antoinette Kilo</dc:creator>
  <dc:description/>
  <dc:language>fr-FR</dc:language>
  <cp:lastModifiedBy/>
  <dcterms:modified xsi:type="dcterms:W3CDTF">2026-09-25T14:48:34Z</dcterms:modified>
  <cp:revision>3</cp:revision>
  <dc:subject>Comptoir des Coteaux - Pipeline Data Engineering</dc:subject>
  <dc:title>Comptoir des Coteaux - Soutenance COPIL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